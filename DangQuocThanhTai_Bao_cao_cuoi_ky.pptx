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D2FF"/>
                </a:solidFill>
              </a:defRPr>
            </a:pPr>
            <a:r>
              <a:t>TRƯỜNG ĐẠI HỌC CÔNG NGHỆ KỸ THUẬT TP. HỒ CHÍ MINH (HCMUTE)</a:t>
            </a:r>
            <a:br/>
            <a:r>
              <a:t>KHOA CÔNG NGHỆ THÔNG TIN • HỌC PHẦN TRÍ TUỆ NHÂN TẠO CHO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t>SINH ĐẶC TRƯNG LOG-MEL CỦA CHỮ SỐ NÓI</a:t>
            </a:r>
            <a:br/>
            <a:r>
              <a:t>BẰNG cVAE VÀ ĐÁNH GIÁ THEO GIAO THỨC TSTR</a:t>
            </a:r>
          </a:p>
          <a:p>
            <a:br/>
            <a:r>
              <a:t>Phân nhóm: Tạo sinh (Generative Models) | Mã đề tài: G1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10360152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4297680"/>
            <a:ext cx="96012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Sinh viên thực hiện:  ĐẶNG QUỐC THÀNH TÀI  -  MSSV: 23110149  (Lớp: 261AIOT331185_01CLC)</a:t>
            </a:r>
          </a:p>
          <a:p>
            <a:r>
              <a:t>Giảng viên hướng dẫn:  ThS/TS. HỒ NHỰT MINH</a:t>
            </a:r>
          </a:p>
          <a:p>
            <a:r>
              <a:t>Bộ dữ liệu thực nghiệm:  Free Spoken Digit Dataset (FSDD - 3.000 file WAV mono 8 kHz)</a:t>
            </a:r>
          </a:p>
          <a:p>
            <a:r>
              <a:t>Mã nguồn GitHub:  https://github.com/dqtt2005/DANGQUOCTHANHTAI_final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1. Bối cảnh Kỹ thuật &amp; Phát biểu Bài toán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6694" y="2504351"/>
            <a:ext cx="5025468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C57"/>
                </a:solidFill>
              </a:defRPr>
            </a:pPr>
            <a:r>
              <a:rPr dirty="0" err="1"/>
              <a:t>Thách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IoT Voice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(0–9)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then </a:t>
            </a:r>
            <a:r>
              <a:rPr dirty="0" err="1"/>
              <a:t>chốt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khiển</a:t>
            </a:r>
            <a:r>
              <a:rPr dirty="0"/>
              <a:t> </a:t>
            </a:r>
            <a:r>
              <a:rPr dirty="0" err="1"/>
              <a:t>giọng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(Keyword Spotting)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thiết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nhúng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thu</a:t>
            </a:r>
            <a:r>
              <a:rPr dirty="0"/>
              <a:t> </a:t>
            </a:r>
            <a:r>
              <a:rPr dirty="0" err="1"/>
              <a:t>thập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micro </a:t>
            </a:r>
            <a:r>
              <a:rPr dirty="0" err="1"/>
              <a:t>thường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, </a:t>
            </a:r>
            <a:r>
              <a:rPr dirty="0" err="1"/>
              <a:t>tốn</a:t>
            </a:r>
            <a:r>
              <a:rPr dirty="0"/>
              <a:t> </a:t>
            </a:r>
            <a:r>
              <a:rPr dirty="0" err="1"/>
              <a:t>kém</a:t>
            </a:r>
            <a:r>
              <a:rPr dirty="0"/>
              <a:t> chi </a:t>
            </a:r>
            <a:r>
              <a:rPr dirty="0" err="1"/>
              <a:t>phí</a:t>
            </a:r>
            <a:r>
              <a:rPr dirty="0"/>
              <a:t> </a:t>
            </a:r>
            <a:r>
              <a:rPr dirty="0" err="1"/>
              <a:t>gán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lo </a:t>
            </a:r>
            <a:r>
              <a:rPr dirty="0" err="1"/>
              <a:t>ngại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mật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sâu</a:t>
            </a:r>
            <a:r>
              <a:rPr dirty="0"/>
              <a:t> (</a:t>
            </a:r>
            <a:r>
              <a:rPr dirty="0" err="1"/>
              <a:t>cVAE</a:t>
            </a:r>
            <a:r>
              <a:rPr dirty="0"/>
              <a:t>) </a:t>
            </a:r>
            <a:r>
              <a:rPr dirty="0" err="1"/>
              <a:t>mở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(Data Augmentation)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phong</a:t>
            </a:r>
            <a:r>
              <a:rPr dirty="0"/>
              <a:t> </a:t>
            </a:r>
            <a:r>
              <a:rPr dirty="0" err="1"/>
              <a:t>phú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Phạm vi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: Sinh 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Log-Mel (1 x 64 x 64),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sóng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nhằm</a:t>
            </a:r>
            <a:r>
              <a:rPr dirty="0"/>
              <a:t> </a:t>
            </a:r>
            <a:r>
              <a:rPr dirty="0" err="1"/>
              <a:t>tiết</a:t>
            </a:r>
            <a:r>
              <a:rPr dirty="0"/>
              <a:t> </a:t>
            </a:r>
            <a:r>
              <a:rPr dirty="0" err="1"/>
              <a:t>kiệm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nguyên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0" y="2600531"/>
            <a:ext cx="5517689" cy="1992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572EF"/>
                </a:solidFill>
              </a:defRPr>
            </a:pP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Cốt</a:t>
            </a:r>
            <a:r>
              <a:rPr dirty="0"/>
              <a:t> </a:t>
            </a:r>
            <a:r>
              <a:rPr dirty="0" err="1"/>
              <a:t>lõi</a:t>
            </a:r>
            <a:endParaRPr dirty="0"/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: </a:t>
            </a:r>
            <a:r>
              <a:rPr dirty="0" err="1"/>
              <a:t>Biểu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tensor x </a:t>
            </a:r>
            <a:r>
              <a:rPr dirty="0" err="1"/>
              <a:t>kích</a:t>
            </a:r>
            <a:r>
              <a:rPr dirty="0"/>
              <a:t> </a:t>
            </a:r>
            <a:r>
              <a:rPr dirty="0" err="1"/>
              <a:t>thước</a:t>
            </a:r>
            <a:r>
              <a:rPr dirty="0"/>
              <a:t> [1, 64, 64]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c in {0, ..., 9}.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: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</a:t>
            </a:r>
            <a:r>
              <a:rPr dirty="0" err="1"/>
              <a:t>tiềm</a:t>
            </a:r>
            <a:r>
              <a:rPr dirty="0"/>
              <a:t> </a:t>
            </a:r>
            <a:r>
              <a:rPr dirty="0" err="1"/>
              <a:t>ẩn</a:t>
            </a:r>
            <a:r>
              <a:rPr dirty="0"/>
              <a:t> z in R^{32}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kiện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Sinh </a:t>
            </a:r>
            <a:r>
              <a:rPr dirty="0" err="1"/>
              <a:t>mẫu</a:t>
            </a:r>
            <a:r>
              <a:rPr dirty="0"/>
              <a:t>: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z ~ N(0, I)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,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c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x_syn</a:t>
            </a:r>
            <a:r>
              <a:rPr dirty="0"/>
              <a:t> = </a:t>
            </a:r>
            <a:r>
              <a:rPr dirty="0" err="1"/>
              <a:t>f_theta</a:t>
            </a:r>
            <a:r>
              <a:rPr dirty="0"/>
              <a:t>(z, c).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•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: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classifier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tắc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checkpoint,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nào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do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2. Mục tiêu Nghiên cứu &amp; Giới hạn Khoa học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2190198"/>
            <a:ext cx="3200401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Bắt</a:t>
            </a:r>
            <a:r>
              <a:rPr dirty="0"/>
              <a:t> </a:t>
            </a:r>
            <a:r>
              <a:rPr dirty="0" err="1"/>
              <a:t>buộc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pipeline </a:t>
            </a:r>
            <a:r>
              <a:rPr dirty="0" err="1"/>
              <a:t>tiền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100% </a:t>
            </a:r>
            <a:r>
              <a:rPr dirty="0" err="1"/>
              <a:t>không</a:t>
            </a:r>
            <a:r>
              <a:rPr dirty="0"/>
              <a:t> </a:t>
            </a:r>
            <a:r>
              <a:rPr lang="en-US" dirty="0" err="1"/>
              <a:t>r</a:t>
            </a:r>
            <a:r>
              <a:rPr dirty="0" err="1"/>
              <a:t>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kiện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10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d_z</a:t>
            </a:r>
            <a:r>
              <a:rPr dirty="0"/>
              <a:t> = 32.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Sinh 2.400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tắc</a:t>
            </a:r>
            <a:r>
              <a:rPr dirty="0"/>
              <a:t> N(0, I).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TRTR </a:t>
            </a:r>
            <a:r>
              <a:rPr dirty="0" err="1"/>
              <a:t>và</a:t>
            </a:r>
            <a:r>
              <a:rPr dirty="0"/>
              <a:t> TSTR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300 </a:t>
            </a:r>
            <a:r>
              <a:rPr dirty="0" err="1"/>
              <a:t>mẫu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Báo </a:t>
            </a:r>
            <a:r>
              <a:rPr dirty="0" err="1"/>
              <a:t>cáo</a:t>
            </a:r>
            <a:r>
              <a:rPr dirty="0"/>
              <a:t>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truy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nguồn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35947" y="2282532"/>
            <a:ext cx="328962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Định </a:t>
            </a:r>
            <a:r>
              <a:rPr dirty="0" err="1"/>
              <a:t>hướng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Accuracy TRTR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chiếu</a:t>
            </a:r>
            <a:r>
              <a:rPr dirty="0"/>
              <a:t>: Đạt </a:t>
            </a:r>
            <a:r>
              <a:rPr dirty="0" err="1"/>
              <a:t>từ</a:t>
            </a:r>
            <a:r>
              <a:rPr dirty="0"/>
              <a:t> 90% </a:t>
            </a:r>
            <a:r>
              <a:rPr dirty="0" err="1"/>
              <a:t>trở</a:t>
            </a:r>
            <a:r>
              <a:rPr dirty="0"/>
              <a:t> </a:t>
            </a:r>
            <a:r>
              <a:rPr dirty="0" err="1"/>
              <a:t>lên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sụt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Delta_pp</a:t>
            </a:r>
            <a:r>
              <a:rPr dirty="0"/>
              <a:t>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vượt</a:t>
            </a:r>
            <a:r>
              <a:rPr dirty="0"/>
              <a:t> </a:t>
            </a:r>
            <a:r>
              <a:rPr dirty="0" err="1"/>
              <a:t>quá</a:t>
            </a:r>
            <a:r>
              <a:rPr dirty="0"/>
              <a:t> 15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trăm</a:t>
            </a:r>
            <a:r>
              <a:rPr dirty="0"/>
              <a:t> so </a:t>
            </a:r>
            <a:r>
              <a:rPr dirty="0" err="1"/>
              <a:t>với</a:t>
            </a:r>
            <a:r>
              <a:rPr dirty="0"/>
              <a:t> TRTR.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chuyển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lực</a:t>
            </a:r>
            <a:r>
              <a:rPr dirty="0"/>
              <a:t> R = </a:t>
            </a:r>
            <a:r>
              <a:rPr dirty="0" err="1"/>
              <a:t>a_TSTR</a:t>
            </a:r>
            <a:r>
              <a:rPr dirty="0"/>
              <a:t> / </a:t>
            </a:r>
            <a:r>
              <a:rPr dirty="0" err="1"/>
              <a:t>a_TRTR</a:t>
            </a:r>
            <a:r>
              <a:rPr dirty="0"/>
              <a:t> &gt;= 80%.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nhầm</a:t>
            </a:r>
            <a:r>
              <a:rPr dirty="0"/>
              <a:t> </a:t>
            </a:r>
            <a:r>
              <a:rPr dirty="0" err="1"/>
              <a:t>lẫn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Recall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10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(0–9).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Đạt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mốc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lọc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08587" y="2282532"/>
            <a:ext cx="3421413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B8324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Khoa </a:t>
            </a:r>
            <a:r>
              <a:rPr dirty="0" err="1"/>
              <a:t>học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: 6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Train, Val </a:t>
            </a:r>
            <a:r>
              <a:rPr dirty="0" err="1"/>
              <a:t>và</a:t>
            </a:r>
            <a:r>
              <a:rPr dirty="0"/>
              <a:t> Test -&gt;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khẳng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quát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cứng</a:t>
            </a:r>
            <a:r>
              <a:rPr dirty="0"/>
              <a:t>: </a:t>
            </a:r>
            <a:r>
              <a:rPr dirty="0" err="1"/>
              <a:t>Đo</a:t>
            </a:r>
            <a:r>
              <a:rPr dirty="0"/>
              <a:t> latency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máy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-&gt;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tuyên</a:t>
            </a:r>
            <a:r>
              <a:rPr dirty="0"/>
              <a:t> </a:t>
            </a:r>
            <a:r>
              <a:rPr dirty="0" err="1"/>
              <a:t>bố</a:t>
            </a:r>
            <a:r>
              <a:rPr dirty="0"/>
              <a:t> </a:t>
            </a:r>
            <a:r>
              <a:rPr dirty="0" err="1"/>
              <a:t>thời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ESP32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nạp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: </a:t>
            </a:r>
            <a:r>
              <a:rPr dirty="0" err="1"/>
              <a:t>Khôi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Griffin-Lim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họa</a:t>
            </a:r>
            <a:r>
              <a:rPr dirty="0"/>
              <a:t> </a:t>
            </a:r>
            <a:r>
              <a:rPr dirty="0" err="1"/>
              <a:t>xấp</a:t>
            </a:r>
            <a:r>
              <a:rPr dirty="0"/>
              <a:t> </a:t>
            </a:r>
            <a:r>
              <a:rPr dirty="0" err="1"/>
              <a:t>xỉ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thính</a:t>
            </a:r>
            <a:r>
              <a:rPr dirty="0"/>
              <a:t> </a:t>
            </a:r>
            <a:r>
              <a:rPr dirty="0" err="1"/>
              <a:t>giác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lang="en-US" dirty="0" err="1"/>
              <a:t>S</a:t>
            </a:r>
            <a:r>
              <a:rPr dirty="0" err="1"/>
              <a:t>ẵn</a:t>
            </a:r>
            <a:r>
              <a:rPr dirty="0"/>
              <a:t> </a:t>
            </a:r>
            <a:r>
              <a:rPr dirty="0" err="1"/>
              <a:t>sàng</a:t>
            </a:r>
            <a:r>
              <a:rPr dirty="0"/>
              <a:t> </a:t>
            </a:r>
            <a:r>
              <a:rPr dirty="0" err="1"/>
              <a:t>nhúng</a:t>
            </a:r>
            <a:r>
              <a:rPr dirty="0"/>
              <a:t>: </a:t>
            </a:r>
            <a:r>
              <a:rPr dirty="0" err="1"/>
              <a:t>Xuất</a:t>
            </a:r>
            <a:r>
              <a:rPr dirty="0"/>
              <a:t> ONNX, C header array </a:t>
            </a:r>
            <a:r>
              <a:rPr dirty="0" err="1"/>
              <a:t>và</a:t>
            </a:r>
            <a:r>
              <a:rPr dirty="0"/>
              <a:t> code </a:t>
            </a:r>
            <a:r>
              <a:rPr dirty="0" err="1"/>
              <a:t>mẫu</a:t>
            </a:r>
            <a:r>
              <a:rPr dirty="0"/>
              <a:t> ESP32.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3. Bộ dữ liệu FSDD &amp; Pipeline Tiền xử lý 6 Bước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688336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1: </a:t>
            </a:r>
            <a:r>
              <a:rPr dirty="0" err="1"/>
              <a:t>Đọc</a:t>
            </a:r>
            <a:r>
              <a:rPr dirty="0"/>
              <a:t> WAV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 err="1"/>
              <a:t>Tần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8.000 Hz, mono, thang [-1, 1].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đỉnh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tồn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00200"/>
            <a:ext cx="3017520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2: </a:t>
            </a:r>
            <a:r>
              <a:rPr dirty="0" err="1"/>
              <a:t>Cố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8.000 </a:t>
            </a:r>
            <a:r>
              <a:rPr dirty="0" err="1"/>
              <a:t>mẫu</a:t>
            </a:r>
            <a:endParaRPr dirty="0"/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/>
              <a:t>1,0 </a:t>
            </a:r>
            <a:r>
              <a:rPr dirty="0" err="1"/>
              <a:t>giây</a:t>
            </a:r>
            <a:r>
              <a:rPr dirty="0"/>
              <a:t> </a:t>
            </a:r>
            <a:r>
              <a:rPr dirty="0" err="1"/>
              <a:t>tín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. </a:t>
            </a:r>
            <a:r>
              <a:rPr dirty="0" err="1"/>
              <a:t>Đệm</a:t>
            </a:r>
            <a:r>
              <a:rPr dirty="0"/>
              <a:t> 0 ở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ngắn</a:t>
            </a:r>
            <a:r>
              <a:rPr dirty="0"/>
              <a:t>; </a:t>
            </a:r>
            <a:r>
              <a:rPr dirty="0" err="1"/>
              <a:t>cắt</a:t>
            </a:r>
            <a:r>
              <a:rPr dirty="0"/>
              <a:t> </a:t>
            </a:r>
            <a:r>
              <a:rPr dirty="0" err="1"/>
              <a:t>đoạn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dài</a:t>
            </a:r>
            <a:r>
              <a:rPr dirty="0"/>
              <a:t>. </a:t>
            </a:r>
            <a:r>
              <a:rPr dirty="0" err="1"/>
              <a:t>Chỉ</a:t>
            </a:r>
            <a:r>
              <a:rPr dirty="0"/>
              <a:t> 14/2400 file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cắt</a:t>
            </a:r>
            <a:r>
              <a:rPr dirty="0"/>
              <a:t> (0.58%).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2551176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t>Bước 3: STFT &amp; 64 Mel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t>n_fft = win_len = 256, hop = 128, Hann, center = True. 64 dải Mel (0-4000 Hz) -&gt; 63 khung thời gian.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40"/>
            <a:ext cx="2953512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4: Log-Mel dB &amp; </a:t>
            </a:r>
            <a:r>
              <a:rPr dirty="0" err="1"/>
              <a:t>Đệm</a:t>
            </a:r>
            <a:r>
              <a:rPr dirty="0"/>
              <a:t> </a:t>
            </a:r>
            <a:r>
              <a:rPr dirty="0" err="1"/>
              <a:t>cột</a:t>
            </a:r>
            <a:endParaRPr dirty="0"/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/>
              <a:t>L = 10*log10(max(M, 1e-8)). </a:t>
            </a:r>
            <a:r>
              <a:rPr dirty="0" err="1"/>
              <a:t>Thêm</a:t>
            </a:r>
            <a:r>
              <a:rPr dirty="0"/>
              <a:t> 1 </a:t>
            </a:r>
            <a:r>
              <a:rPr dirty="0" err="1"/>
              <a:t>cột</a:t>
            </a:r>
            <a:r>
              <a:rPr dirty="0"/>
              <a:t> -80 dB ở </a:t>
            </a:r>
            <a:r>
              <a:rPr dirty="0" err="1"/>
              <a:t>cuối</a:t>
            </a:r>
            <a:r>
              <a:rPr dirty="0"/>
              <a:t> -&gt; Tensor </a:t>
            </a:r>
            <a:r>
              <a:rPr dirty="0" err="1"/>
              <a:t>chuẩn</a:t>
            </a:r>
            <a:r>
              <a:rPr dirty="0"/>
              <a:t> ma </a:t>
            </a:r>
            <a:r>
              <a:rPr dirty="0" err="1"/>
              <a:t>trận</a:t>
            </a:r>
            <a:r>
              <a:rPr dirty="0"/>
              <a:t> 64 x 64.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84048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977640"/>
            <a:ext cx="3017520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t>Bước 5: Chuẩn hóa z-score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t>Tính mu_m và sigma_m CHỈ TRÊN 2.400 mẫu Train. Áp dụng cố định cho Val, Test và dữ liệu sinh.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84048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3977640"/>
            <a:ext cx="2267712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6: </a:t>
            </a:r>
            <a:r>
              <a:rPr dirty="0" err="1"/>
              <a:t>Tạo</a:t>
            </a:r>
            <a:r>
              <a:rPr dirty="0"/>
              <a:t> Tensor [1, 64, 64]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 </a:t>
            </a:r>
            <a:r>
              <a:rPr dirty="0" err="1"/>
              <a:t>kênh</a:t>
            </a:r>
            <a:r>
              <a:rPr dirty="0"/>
              <a:t>.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NaN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Inf, </a:t>
            </a:r>
            <a:r>
              <a:rPr dirty="0" err="1"/>
              <a:t>nhãn</a:t>
            </a:r>
            <a:r>
              <a:rPr dirty="0"/>
              <a:t> 0–9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4. Phân chia Dữ liệu Nghiêm ngặt &amp; Phòng chống Rò rỉ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(Train)</a:t>
            </a:r>
          </a:p>
          <a:p>
            <a:pPr>
              <a:spcAft>
                <a:spcPts val="600"/>
              </a:spcAft>
            </a:pPr>
            <a:r>
              <a:rPr sz="1150" b="1" dirty="0"/>
              <a:t>Quy </a:t>
            </a:r>
            <a:r>
              <a:rPr sz="1150" b="1" dirty="0" err="1"/>
              <a:t>mô</a:t>
            </a:r>
            <a:r>
              <a:rPr sz="1150" b="1" dirty="0"/>
              <a:t>: </a:t>
            </a:r>
            <a:r>
              <a:rPr sz="1150" dirty="0"/>
              <a:t>2.400 </a:t>
            </a:r>
            <a:r>
              <a:rPr sz="1150" dirty="0" err="1"/>
              <a:t>mẫu</a:t>
            </a:r>
            <a:r>
              <a:rPr sz="1150" dirty="0"/>
              <a:t> (80%)</a:t>
            </a:r>
          </a:p>
          <a:p>
            <a:pPr>
              <a:spcAft>
                <a:spcPts val="600"/>
              </a:spcAft>
            </a:pPr>
            <a:r>
              <a:rPr sz="1150" b="1" dirty="0"/>
              <a:t>Phạm vi </a:t>
            </a:r>
            <a:r>
              <a:rPr sz="1150" b="1" dirty="0" err="1"/>
              <a:t>tệp</a:t>
            </a:r>
            <a:r>
              <a:rPr sz="1150" b="1" dirty="0"/>
              <a:t>: </a:t>
            </a:r>
            <a:r>
              <a:rPr sz="1150" dirty="0" err="1"/>
              <a:t>Chỉ</a:t>
            </a:r>
            <a:r>
              <a:rPr sz="1150" dirty="0"/>
              <a:t> </a:t>
            </a:r>
            <a:r>
              <a:rPr sz="1150" dirty="0" err="1"/>
              <a:t>số</a:t>
            </a:r>
            <a:r>
              <a:rPr sz="1150" dirty="0"/>
              <a:t> index: 10 – 49</a:t>
            </a:r>
          </a:p>
          <a:p>
            <a:pPr>
              <a:spcAft>
                <a:spcPts val="600"/>
              </a:spcAft>
            </a:pPr>
            <a:r>
              <a:rPr sz="1150" b="1" dirty="0" err="1"/>
              <a:t>Độ</a:t>
            </a:r>
            <a:r>
              <a:rPr sz="1150" b="1" dirty="0"/>
              <a:t> </a:t>
            </a:r>
            <a:r>
              <a:rPr sz="1150" b="1" dirty="0" err="1"/>
              <a:t>cân</a:t>
            </a:r>
            <a:r>
              <a:rPr sz="1150" b="1" dirty="0"/>
              <a:t> </a:t>
            </a:r>
            <a:r>
              <a:rPr sz="1150" b="1" dirty="0" err="1"/>
              <a:t>bằng</a:t>
            </a:r>
            <a:r>
              <a:rPr sz="1150" b="1" dirty="0"/>
              <a:t>: </a:t>
            </a:r>
            <a:r>
              <a:rPr sz="1150" dirty="0"/>
              <a:t>240 </a:t>
            </a:r>
            <a:r>
              <a:rPr sz="1150" dirty="0" err="1"/>
              <a:t>mẫu</a:t>
            </a:r>
            <a:r>
              <a:rPr sz="1150" dirty="0"/>
              <a:t> / </a:t>
            </a:r>
            <a:r>
              <a:rPr sz="1150" dirty="0" err="1"/>
              <a:t>chữ</a:t>
            </a:r>
            <a:r>
              <a:rPr sz="1150" dirty="0"/>
              <a:t> </a:t>
            </a:r>
            <a:r>
              <a:rPr sz="1150" dirty="0" err="1"/>
              <a:t>số</a:t>
            </a:r>
            <a:endParaRPr sz="1150" dirty="0"/>
          </a:p>
          <a:p>
            <a:pPr>
              <a:spcAft>
                <a:spcPts val="600"/>
              </a:spcAft>
            </a:pPr>
            <a:r>
              <a:rPr sz="1150" b="1" dirty="0"/>
              <a:t>Vai </a:t>
            </a:r>
            <a:r>
              <a:rPr sz="1150" b="1" dirty="0" err="1"/>
              <a:t>trò</a:t>
            </a:r>
            <a:r>
              <a:rPr sz="1150" b="1" dirty="0"/>
              <a:t>: </a:t>
            </a:r>
            <a:r>
              <a:rPr sz="1150" dirty="0" err="1"/>
              <a:t>Cập</a:t>
            </a:r>
            <a:r>
              <a:rPr sz="1150" dirty="0"/>
              <a:t> </a:t>
            </a:r>
            <a:r>
              <a:rPr sz="1150" dirty="0" err="1"/>
              <a:t>nhật</a:t>
            </a:r>
            <a:r>
              <a:rPr sz="1150" dirty="0"/>
              <a:t> gradient </a:t>
            </a:r>
            <a:r>
              <a:rPr sz="1150" dirty="0" err="1"/>
              <a:t>cVAE</a:t>
            </a:r>
            <a:r>
              <a:rPr sz="1150" dirty="0"/>
              <a:t> &amp; Classifier TRTR. </a:t>
            </a:r>
            <a:r>
              <a:rPr sz="1150" dirty="0" err="1"/>
              <a:t>Tính</a:t>
            </a:r>
            <a:r>
              <a:rPr sz="1150" dirty="0"/>
              <a:t> </a:t>
            </a:r>
            <a:r>
              <a:rPr sz="1150" dirty="0" err="1"/>
              <a:t>thống</a:t>
            </a:r>
            <a:r>
              <a:rPr sz="1150" dirty="0"/>
              <a:t> </a:t>
            </a:r>
            <a:r>
              <a:rPr sz="1150" dirty="0" err="1"/>
              <a:t>kê</a:t>
            </a:r>
            <a:r>
              <a:rPr sz="1150" dirty="0"/>
              <a:t> </a:t>
            </a:r>
            <a:r>
              <a:rPr sz="1150" dirty="0" err="1"/>
              <a:t>chuẩn</a:t>
            </a:r>
            <a:r>
              <a:rPr sz="1150" dirty="0"/>
              <a:t> </a:t>
            </a:r>
            <a:r>
              <a:rPr sz="1150" dirty="0" err="1"/>
              <a:t>hóa</a:t>
            </a:r>
            <a:r>
              <a:rPr sz="1150" dirty="0"/>
              <a:t> z-score mu </a:t>
            </a:r>
            <a:r>
              <a:rPr sz="1150" dirty="0" err="1"/>
              <a:t>và</a:t>
            </a:r>
            <a:r>
              <a:rPr sz="1150" dirty="0"/>
              <a:t> sigma.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572EF"/>
                </a:solidFill>
              </a:defRPr>
            </a:pPr>
            <a:r>
              <a:t>Tập Validation Thật (Val)</a:t>
            </a:r>
          </a:p>
          <a:p>
            <a:pPr>
              <a:spcAft>
                <a:spcPts val="600"/>
              </a:spcAft>
            </a:pPr>
            <a:r>
              <a:rPr sz="1150" b="1"/>
              <a:t>Quy mô: </a:t>
            </a:r>
            <a:r>
              <a:rPr sz="1150"/>
              <a:t>300 mẫu (10%)</a:t>
            </a:r>
          </a:p>
          <a:p>
            <a:pPr>
              <a:spcAft>
                <a:spcPts val="600"/>
              </a:spcAft>
            </a:pPr>
            <a:r>
              <a:rPr sz="1150" b="1"/>
              <a:t>Phạm vi tệp: </a:t>
            </a:r>
            <a:r>
              <a:rPr sz="1150"/>
              <a:t>Chỉ số index: 5 – 9</a:t>
            </a:r>
          </a:p>
          <a:p>
            <a:pPr>
              <a:spcAft>
                <a:spcPts val="600"/>
              </a:spcAft>
            </a:pPr>
            <a:r>
              <a:rPr sz="1150" b="1"/>
              <a:t>Độ cân bằng: </a:t>
            </a:r>
            <a:r>
              <a:rPr sz="1150"/>
              <a:t>30 mẫu / chữ số</a:t>
            </a:r>
          </a:p>
          <a:p>
            <a:pPr>
              <a:spcAft>
                <a:spcPts val="600"/>
              </a:spcAft>
            </a:pPr>
            <a:r>
              <a:rPr sz="1150" b="1"/>
              <a:t>Vai trò: </a:t>
            </a:r>
            <a:r>
              <a:rPr sz="1150"/>
              <a:t>Dùng chung cho cả TRTR và TSTR để Early Stopping và chọn checkpoint tốt nhất. Không cập nhật gradient.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E7D32"/>
                </a:solidFill>
              </a:defRPr>
            </a:pPr>
            <a:r>
              <a:t>Tập Kiểm tra Thật (Test)</a:t>
            </a:r>
          </a:p>
          <a:p>
            <a:pPr>
              <a:spcAft>
                <a:spcPts val="600"/>
              </a:spcAft>
            </a:pPr>
            <a:r>
              <a:rPr sz="1150" b="1"/>
              <a:t>Quy mô: </a:t>
            </a:r>
            <a:r>
              <a:rPr sz="1150"/>
              <a:t>300 mẫu (10%)</a:t>
            </a:r>
          </a:p>
          <a:p>
            <a:pPr>
              <a:spcAft>
                <a:spcPts val="600"/>
              </a:spcAft>
            </a:pPr>
            <a:r>
              <a:rPr sz="1150" b="1"/>
              <a:t>Phạm vi tệp: </a:t>
            </a:r>
            <a:r>
              <a:rPr sz="1150"/>
              <a:t>Chỉ số index: 0 – 4</a:t>
            </a:r>
          </a:p>
          <a:p>
            <a:pPr>
              <a:spcAft>
                <a:spcPts val="600"/>
              </a:spcAft>
            </a:pPr>
            <a:r>
              <a:rPr sz="1150" b="1"/>
              <a:t>Độ cân bằng: </a:t>
            </a:r>
            <a:r>
              <a:rPr sz="1150"/>
              <a:t>30 mẫu / chữ số</a:t>
            </a:r>
          </a:p>
          <a:p>
            <a:pPr>
              <a:spcAft>
                <a:spcPts val="600"/>
              </a:spcAft>
            </a:pPr>
            <a:r>
              <a:rPr sz="1150" b="1"/>
              <a:t>Vai trò: </a:t>
            </a:r>
            <a:r>
              <a:rPr sz="1150"/>
              <a:t>Đánh giá độc lập cuối cùng cho cả TRTR và TSTR sau khi đã khóa mô hình. Không can thiệp.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87917" y="5818816"/>
            <a:ext cx="7202806" cy="393192"/>
          </a:xfrm>
          <a:prstGeom prst="roundRect">
            <a:avLst/>
          </a:prstGeom>
          <a:solidFill>
            <a:srgbClr val="E6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79357" y="5876912"/>
            <a:ext cx="720280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file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3 </a:t>
            </a: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0.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5. Kiến trúc Mạng cVAE Chi tiết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081567" cy="21544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(Encoder) &amp;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Tiềm</a:t>
            </a:r>
            <a:r>
              <a:rPr dirty="0"/>
              <a:t> </a:t>
            </a:r>
            <a:r>
              <a:rPr dirty="0" err="1"/>
              <a:t>ẩn</a:t>
            </a:r>
            <a:endParaRPr dirty="0"/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Đầu</a:t>
            </a:r>
            <a:r>
              <a:rPr dirty="0"/>
              <a:t> </a:t>
            </a:r>
            <a:r>
              <a:rPr dirty="0" err="1"/>
              <a:t>vào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: [B, 1, 64, 64]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1: Conv2D(1 -&gt; 32, k=4, s=2, p=1) -&gt; </a:t>
            </a:r>
            <a:r>
              <a:rPr dirty="0" err="1"/>
              <a:t>ReLU</a:t>
            </a:r>
            <a:r>
              <a:rPr dirty="0"/>
              <a:t> -&gt; [B, 32, 32, 32]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2: Conv2D(32 -&gt; 64, k=4, s=2, p=1) -&gt; </a:t>
            </a:r>
            <a:r>
              <a:rPr dirty="0" err="1"/>
              <a:t>ReLU</a:t>
            </a:r>
            <a:r>
              <a:rPr dirty="0"/>
              <a:t> -&gt; [B, 64, 16, 16]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3: Conv2D(64 -&gt; 128, k=4, s=2, p=1) -&gt; </a:t>
            </a:r>
            <a:r>
              <a:rPr dirty="0" err="1"/>
              <a:t>ReLU</a:t>
            </a:r>
            <a:r>
              <a:rPr dirty="0"/>
              <a:t> -&gt; [B, 128, 8, 8]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4: Conv2D(128 -&gt; 256, k=4, s=2, p=1) -&gt; </a:t>
            </a:r>
            <a:r>
              <a:rPr dirty="0" err="1"/>
              <a:t>ReLU</a:t>
            </a:r>
            <a:r>
              <a:rPr dirty="0"/>
              <a:t> -&gt; [B, 256, 4, 4]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/>
              <a:t>Flatten: 256 * 4 * 4 = 4.096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nối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: Vector one-hot 10 </a:t>
            </a:r>
            <a:r>
              <a:rPr dirty="0" err="1"/>
              <a:t>chiều</a:t>
            </a:r>
            <a:r>
              <a:rPr dirty="0"/>
              <a:t> -&gt; 4.106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/>
              <a:t>Hai </a:t>
            </a:r>
            <a:r>
              <a:rPr dirty="0" err="1"/>
              <a:t>nhánh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: mu </a:t>
            </a:r>
            <a:r>
              <a:rPr dirty="0" err="1"/>
              <a:t>và</a:t>
            </a:r>
            <a:r>
              <a:rPr dirty="0"/>
              <a:t> ell = log(sigma^2) ∈ R^{32}.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/>
              <a:t>Tái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: z = mu + exp(ell/2) * eps, eps ~ N(0, I).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257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mã</a:t>
            </a:r>
            <a:r>
              <a:rPr dirty="0"/>
              <a:t> (Decoder) &amp; </a:t>
            </a:r>
            <a:r>
              <a:rPr dirty="0" err="1"/>
              <a:t>Khôi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Phổ</a:t>
            </a:r>
            <a:endParaRPr dirty="0"/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Đầu</a:t>
            </a:r>
            <a:r>
              <a:rPr dirty="0"/>
              <a:t> </a:t>
            </a:r>
            <a:r>
              <a:rPr dirty="0" err="1"/>
              <a:t>vào</a:t>
            </a:r>
            <a:r>
              <a:rPr dirty="0"/>
              <a:t> </a:t>
            </a:r>
            <a:r>
              <a:rPr dirty="0" err="1"/>
              <a:t>tiềm</a:t>
            </a:r>
            <a:r>
              <a:rPr dirty="0"/>
              <a:t> </a:t>
            </a:r>
            <a:r>
              <a:rPr dirty="0" err="1"/>
              <a:t>ẩn</a:t>
            </a:r>
            <a:r>
              <a:rPr dirty="0"/>
              <a:t>: Vector z (32 </a:t>
            </a:r>
            <a:r>
              <a:rPr dirty="0" err="1"/>
              <a:t>chiều</a:t>
            </a:r>
            <a:r>
              <a:rPr dirty="0"/>
              <a:t>) </a:t>
            </a:r>
            <a:r>
              <a:rPr dirty="0" err="1"/>
              <a:t>nối</a:t>
            </a:r>
            <a:r>
              <a:rPr dirty="0"/>
              <a:t> one-hot (10 </a:t>
            </a:r>
            <a:r>
              <a:rPr dirty="0" err="1"/>
              <a:t>chiều</a:t>
            </a:r>
            <a:r>
              <a:rPr dirty="0"/>
              <a:t>) -&gt; 42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Chiếu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: Linear(42 -&gt; 4.096) -&gt; </a:t>
            </a:r>
            <a:r>
              <a:rPr dirty="0" err="1"/>
              <a:t>ReLU</a:t>
            </a:r>
            <a:r>
              <a:rPr dirty="0"/>
              <a:t> -&gt; Reshape [B, 256, 4, 4].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1: ConvTranspose2D(256 -&gt; 128, k=4, s=2, p=1) -&gt; </a:t>
            </a:r>
            <a:r>
              <a:rPr dirty="0" err="1"/>
              <a:t>ReLU</a:t>
            </a:r>
            <a:r>
              <a:rPr dirty="0"/>
              <a:t> -&gt; [B, 128, 8, 8]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2: ConvTranspose2D(128 -&gt; 64, k=4, s=2, p=1) -&gt; </a:t>
            </a:r>
            <a:r>
              <a:rPr dirty="0" err="1"/>
              <a:t>ReLU</a:t>
            </a:r>
            <a:r>
              <a:rPr dirty="0"/>
              <a:t> -&gt; [B, 64, 16, 16]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3: ConvTranspose2D(64 -&gt; 32, k=4, s=2, p=1) -&gt; </a:t>
            </a:r>
            <a:r>
              <a:rPr dirty="0" err="1"/>
              <a:t>ReLU</a:t>
            </a:r>
            <a:r>
              <a:rPr dirty="0"/>
              <a:t> -&gt; [B, 32, 32, 32]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4: ConvTranspose2D(32 -&gt; 1, k=4, s=2, p=1) -&gt; [B, 1, 64, 64].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(Identity),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Sigmoid/Tanh 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x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z-score.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6. Hàm Mất Mát Conditional ELBO &amp; Quy trình Sinh Mẫu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9625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399" y="1645920"/>
            <a:ext cx="4763223" cy="2654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t>Mục tiêu Tối ưu Biến phân (Conditional ELBO)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Hàm mất mát cực tiểu hóa âm Conditional ELBO: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L_beta = L_rec + beta * L_KL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Thành phần tái tạo (D = 4.096 phần tử):</a:t>
            </a:r>
            <a:br/>
            <a:r>
              <a:t>  L_rec = 1/(2B) * sum_{i=1}^B sum_{k=1}^D (x_ik - x̂_ik)^2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Thành phần điều chuẩn KL (d_z = 32 chiều tiềm ẩn):</a:t>
            </a:r>
            <a:br/>
            <a:r>
              <a:t>  L_KL = 1/(2B) * sum_{i=1}^B sum_{j=1}^{d_z} (mu_ij^2 + exp(ell_ij) - 1 - ell_ij)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Quy tắc cộng và trung bình: Cộng sai số trên từng mẫu, sau đó lấy trung bình theo batch.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Cấu hình chính: beta = 1.0 (chuẩn ELBO). Khảo sát độ nhạy với beta in {0, 0.1, 1}.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19" y="1463040"/>
            <a:ext cx="5221225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54823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Luồng</a:t>
            </a:r>
            <a:r>
              <a:rPr dirty="0"/>
              <a:t> Sinh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Prior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rạch</a:t>
            </a:r>
            <a:r>
              <a:rPr dirty="0"/>
              <a:t> </a:t>
            </a:r>
            <a:r>
              <a:rPr dirty="0" err="1"/>
              <a:t>ròi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/ Tái </a:t>
            </a:r>
            <a:r>
              <a:rPr dirty="0" err="1"/>
              <a:t>tạo</a:t>
            </a:r>
            <a:r>
              <a:rPr dirty="0"/>
              <a:t>: (x </a:t>
            </a:r>
            <a:r>
              <a:rPr dirty="0" err="1"/>
              <a:t>thật</a:t>
            </a:r>
            <a:r>
              <a:rPr dirty="0"/>
              <a:t>, c) -&gt; Encoder -&gt; (mu, ell) -&gt; z -&gt; Decoder -&gt; x̂.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Sinh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Prior: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z ~ N(0, I),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c </a:t>
            </a:r>
            <a:r>
              <a:rPr dirty="0" err="1"/>
              <a:t>yêu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-&gt; Decoder -&gt; </a:t>
            </a:r>
            <a:r>
              <a:rPr dirty="0" err="1"/>
              <a:t>x_syn</a:t>
            </a:r>
            <a:r>
              <a:rPr dirty="0"/>
              <a:t> = </a:t>
            </a:r>
            <a:r>
              <a:rPr dirty="0" err="1"/>
              <a:t>f_theta</a:t>
            </a:r>
            <a:r>
              <a:rPr dirty="0"/>
              <a:t>(z, c).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Quy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: 240 vector z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-&gt; 2.400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10 </a:t>
            </a:r>
            <a:r>
              <a:rPr dirty="0" err="1"/>
              <a:t>lớp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Cam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phương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lọc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classifier.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7. Bộ phân loại CNN &amp; Giao thức Ghép cặp TRTR vs TSTR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929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399" y="2405643"/>
            <a:ext cx="4930061" cy="204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Classifier CNN 3 </a:t>
            </a:r>
            <a:r>
              <a:rPr dirty="0" err="1"/>
              <a:t>Khối</a:t>
            </a:r>
            <a:endParaRPr dirty="0"/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Khối</a:t>
            </a:r>
            <a:r>
              <a:rPr dirty="0"/>
              <a:t> 1: Conv2D(1 -&gt; 16, k=3, s=1, p=1) -&gt; </a:t>
            </a:r>
            <a:r>
              <a:rPr dirty="0" err="1"/>
              <a:t>ReLU</a:t>
            </a:r>
            <a:r>
              <a:rPr dirty="0"/>
              <a:t> -&gt; MaxPool2D(2, 2)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Khối</a:t>
            </a:r>
            <a:r>
              <a:rPr dirty="0"/>
              <a:t> 2: Conv2D(16 -&gt; 32, k=3, s=1, p=1) -&gt; </a:t>
            </a:r>
            <a:r>
              <a:rPr dirty="0" err="1"/>
              <a:t>ReLU</a:t>
            </a:r>
            <a:r>
              <a:rPr dirty="0"/>
              <a:t> -&gt; MaxPool2D(2, 2)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Khối</a:t>
            </a:r>
            <a:r>
              <a:rPr dirty="0"/>
              <a:t> 3: Conv2D(32 -&gt; 64, k=3, s=1, p=1) -&gt; </a:t>
            </a:r>
            <a:r>
              <a:rPr dirty="0" err="1"/>
              <a:t>ReLU</a:t>
            </a:r>
            <a:r>
              <a:rPr dirty="0"/>
              <a:t> -&gt; MaxPool2D(2, 2)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AdaptiveAvgPool2D(4 x 4) -&gt; Flatten 1.024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: Linear(1024 -&gt; 64) -&gt; </a:t>
            </a:r>
            <a:r>
              <a:rPr dirty="0" err="1"/>
              <a:t>ReLU</a:t>
            </a:r>
            <a:r>
              <a:rPr dirty="0"/>
              <a:t> -&gt; Dropout(0.2) -&gt; Linear(64 -&gt; 10).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Optimizer: Adam (</a:t>
            </a:r>
            <a:r>
              <a:rPr dirty="0" err="1"/>
              <a:t>lr</a:t>
            </a:r>
            <a:r>
              <a:rPr dirty="0"/>
              <a:t> = 1e-3, </a:t>
            </a:r>
            <a:r>
              <a:rPr dirty="0" err="1"/>
              <a:t>weight_decay</a:t>
            </a:r>
            <a:r>
              <a:rPr dirty="0"/>
              <a:t> = 0), batch size = 64,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đa</a:t>
            </a:r>
            <a:r>
              <a:rPr dirty="0"/>
              <a:t> 50 epoch, patience = 10.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: 21.834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(</a:t>
            </a:r>
            <a:r>
              <a:rPr dirty="0" err="1"/>
              <a:t>cực</a:t>
            </a:r>
            <a:r>
              <a:rPr dirty="0"/>
              <a:t> </a:t>
            </a:r>
            <a:r>
              <a:rPr dirty="0" err="1"/>
              <a:t>kỳ</a:t>
            </a:r>
            <a:r>
              <a:rPr dirty="0"/>
              <a:t> </a:t>
            </a:r>
            <a:r>
              <a:rPr dirty="0" err="1"/>
              <a:t>nhỏ</a:t>
            </a:r>
            <a:r>
              <a:rPr dirty="0"/>
              <a:t> </a:t>
            </a:r>
            <a:r>
              <a:rPr dirty="0" err="1"/>
              <a:t>gọn</a:t>
            </a:r>
            <a:r>
              <a:rPr dirty="0"/>
              <a:t>, </a:t>
            </a:r>
            <a:r>
              <a:rPr dirty="0" err="1"/>
              <a:t>phù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nhúng</a:t>
            </a:r>
            <a:r>
              <a:rPr dirty="0"/>
              <a:t>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1182" y="1463040"/>
            <a:ext cx="5404105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799" y="2456939"/>
            <a:ext cx="5024870" cy="199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/>
              <a:t>Giao </a:t>
            </a:r>
            <a:r>
              <a:rPr dirty="0" err="1"/>
              <a:t>thức</a:t>
            </a:r>
            <a:r>
              <a:rPr dirty="0"/>
              <a:t> So </a:t>
            </a:r>
            <a:r>
              <a:rPr dirty="0" err="1"/>
              <a:t>sánh</a:t>
            </a:r>
            <a:r>
              <a:rPr dirty="0"/>
              <a:t> </a:t>
            </a: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cặp</a:t>
            </a:r>
            <a:r>
              <a:rPr dirty="0"/>
              <a:t> (Paired Comparison)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3 seed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: {7, 42, 2026}.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Khởi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cặp</a:t>
            </a:r>
            <a:r>
              <a:rPr dirty="0"/>
              <a:t>: Trong </a:t>
            </a:r>
            <a:r>
              <a:rPr dirty="0" err="1"/>
              <a:t>mỗi</a:t>
            </a:r>
            <a:r>
              <a:rPr dirty="0"/>
              <a:t> seed, classifier TRTR </a:t>
            </a:r>
            <a:r>
              <a:rPr dirty="0" err="1"/>
              <a:t>và</a:t>
            </a:r>
            <a:r>
              <a:rPr dirty="0"/>
              <a:t> TSTR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chung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khởi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ban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TRTR: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gradient </a:t>
            </a:r>
            <a:r>
              <a:rPr dirty="0" err="1"/>
              <a:t>bằng</a:t>
            </a:r>
            <a:r>
              <a:rPr dirty="0"/>
              <a:t> 2.400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TSTR: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gradient </a:t>
            </a:r>
            <a:r>
              <a:rPr dirty="0" err="1"/>
              <a:t>bằng</a:t>
            </a:r>
            <a:r>
              <a:rPr dirty="0"/>
              <a:t> 2.400 </a:t>
            </a:r>
            <a:r>
              <a:rPr dirty="0" err="1"/>
              <a:t>mẫu</a:t>
            </a:r>
            <a:r>
              <a:rPr dirty="0"/>
              <a:t> do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chung</a:t>
            </a:r>
            <a:r>
              <a:rPr dirty="0"/>
              <a:t> 300 </a:t>
            </a:r>
            <a:r>
              <a:rPr dirty="0" err="1"/>
              <a:t>mẫu</a:t>
            </a:r>
            <a:r>
              <a:rPr dirty="0"/>
              <a:t> validation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checkpoint (Early Stopping).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300 </a:t>
            </a:r>
            <a:r>
              <a:rPr dirty="0" err="1"/>
              <a:t>mẫu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,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Delta_pp</a:t>
            </a:r>
            <a:r>
              <a:rPr dirty="0"/>
              <a:t> = 100 * (</a:t>
            </a:r>
            <a:r>
              <a:rPr dirty="0" err="1"/>
              <a:t>acc_TRTR</a:t>
            </a:r>
            <a:r>
              <a:rPr dirty="0"/>
              <a:t> - </a:t>
            </a:r>
            <a:r>
              <a:rPr dirty="0" err="1"/>
              <a:t>acc_TSTR</a:t>
            </a:r>
            <a:r>
              <a:rPr dirty="0"/>
              <a:t>)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R = </a:t>
            </a:r>
            <a:r>
              <a:rPr dirty="0" err="1"/>
              <a:t>acc_TSTR</a:t>
            </a:r>
            <a:r>
              <a:rPr dirty="0"/>
              <a:t> / </a:t>
            </a:r>
            <a:r>
              <a:rPr dirty="0" err="1"/>
              <a:t>acc_TRTR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8. Kết quả Thực nghiệm Thực đo Nổi bật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ACCURACY TRTR (THẬT)</a:t>
            </a:r>
          </a:p>
          <a:p>
            <a:pPr algn="ctr">
              <a:defRPr sz="2800" b="1">
                <a:solidFill>
                  <a:srgbClr val="102C57"/>
                </a:solidFill>
              </a:defRPr>
            </a:pPr>
            <a:r>
              <a:t>98.00%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Mục tiêu: &gt;= 90.0%</a:t>
            </a:r>
            <a:br/>
            <a:r>
              <a:t>(Vượt mốc xuất sắc)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ACCURACY TSTR (SINH)</a:t>
            </a:r>
          </a:p>
          <a:p>
            <a:pPr algn="ctr">
              <a:defRPr sz="2800" b="1">
                <a:solidFill>
                  <a:srgbClr val="3572EF"/>
                </a:solidFill>
              </a:defRPr>
            </a:pPr>
            <a:r>
              <a:t>86.00%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Mẫu hoàn toàn sinh từ cVAE</a:t>
            </a:r>
            <a:br/>
            <a:r>
              <a:t>(Test trên 300 mẫu thật)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6364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ĐỘ CHÊNH LỆCH Delta_pp</a:t>
            </a:r>
          </a:p>
          <a:p>
            <a:pPr algn="ctr">
              <a:defRPr sz="2800" b="1">
                <a:solidFill>
                  <a:srgbClr val="2E7D32"/>
                </a:solidFill>
              </a:defRPr>
            </a:pPr>
            <a:r>
              <a:t>+12.00%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Mục tiêu: &lt;= 15.0 điểm %</a:t>
            </a:r>
            <a:br/>
            <a:r>
              <a:t>(Đạt định hướng đề tài)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TỈ SỐ CHUYỂN GIAO R</a:t>
            </a:r>
          </a:p>
          <a:p>
            <a:pPr algn="ctr">
              <a:defRPr sz="2800" b="1">
                <a:solidFill>
                  <a:srgbClr val="EB8324"/>
                </a:solidFill>
              </a:defRPr>
            </a:pPr>
            <a:r>
              <a:t>87.76%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Mục tiêu: &gt;= 80.0%</a:t>
            </a:r>
            <a:br/>
            <a:r>
              <a:t>(Năng lực chuyển giao cao)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103327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2C57"/>
                </a:solidFill>
              </a:defRPr>
            </a:pPr>
            <a:r>
              <a:t>Độ nhạy (Recall) Nhận dạng Từng Chữ số (0 – 9) trên Tập Test Thật 300 Mẫu (Seed 7)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0: TRTR 100.0%  |  TSTR 90.0%       • Chữ số 5: TRTR 100.0%  |  TSTR 93.3% (Tốt nhất)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1: TRTR 96.7%   |  TSTR 83.3%       • Chữ số 6: TRTR 100.0%  |  TSTR 86.7%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2: TRTR 96.7%   |  TSTR 80.0%       • Chữ số 7: TRTR 96.7%   |  TSTR 86.7%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3: TRTR 100.0%  |  TSTR 90.0%       • Chữ số 8: TRTR 96.7%   |  TSTR 80.0%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4: TRTR 96.7%   |  TSTR 83.3%       • Chữ số 9: TRTR 96.7%   |  TSTR 86.7%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9. Khảo sát Độ nhạy Beta &amp; Đo lường Chi phí Tính toán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60857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279392" cy="2349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Khảo</a:t>
            </a:r>
            <a:r>
              <a:rPr dirty="0"/>
              <a:t> </a:t>
            </a:r>
            <a:r>
              <a:rPr dirty="0" err="1"/>
              <a:t>sát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Beta in {0, 0.1, 1}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beta = 0.0 (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Prior):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  Loss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nhỏ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ép</a:t>
            </a:r>
            <a:r>
              <a:rPr dirty="0"/>
              <a:t> posterior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tắc</a:t>
            </a:r>
            <a:r>
              <a:rPr dirty="0"/>
              <a:t> N(0, I). Khi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lấy</a:t>
            </a:r>
            <a:r>
              <a:rPr dirty="0"/>
              <a:t> z ~ N(0, I),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lệch</a:t>
            </a:r>
            <a:r>
              <a:rPr dirty="0"/>
              <a:t>, </a:t>
            </a:r>
            <a:r>
              <a:rPr dirty="0" err="1"/>
              <a:t>dẫn</a:t>
            </a:r>
            <a:r>
              <a:rPr dirty="0"/>
              <a:t> </a:t>
            </a:r>
            <a:r>
              <a:rPr dirty="0" err="1"/>
              <a:t>đến</a:t>
            </a:r>
            <a:r>
              <a:rPr dirty="0"/>
              <a:t> </a:t>
            </a:r>
            <a:r>
              <a:rPr dirty="0" err="1"/>
              <a:t>chất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kém</a:t>
            </a:r>
            <a:r>
              <a:rPr dirty="0"/>
              <a:t> </a:t>
            </a:r>
            <a:r>
              <a:rPr dirty="0" err="1"/>
              <a:t>ổn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beta = 0.1 (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):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 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sắc</a:t>
            </a:r>
            <a:r>
              <a:rPr dirty="0"/>
              <a:t> </a:t>
            </a:r>
            <a:r>
              <a:rPr dirty="0" err="1"/>
              <a:t>nét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sự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prior.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beta = 1.0 (</a:t>
            </a:r>
            <a:r>
              <a:rPr dirty="0" err="1"/>
              <a:t>Chuẩn</a:t>
            </a:r>
            <a:r>
              <a:rPr dirty="0"/>
              <a:t> Conditional ELBO):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đúng</a:t>
            </a:r>
            <a:r>
              <a:rPr dirty="0"/>
              <a:t> </a:t>
            </a:r>
            <a:r>
              <a:rPr dirty="0" err="1"/>
              <a:t>kỳ</a:t>
            </a:r>
            <a:r>
              <a:rPr dirty="0"/>
              <a:t> </a:t>
            </a:r>
            <a:r>
              <a:rPr dirty="0" err="1"/>
              <a:t>vọng</a:t>
            </a:r>
            <a:r>
              <a:rPr dirty="0"/>
              <a:t> </a:t>
            </a:r>
            <a:r>
              <a:rPr dirty="0" err="1"/>
              <a:t>cận</a:t>
            </a:r>
            <a:r>
              <a:rPr dirty="0"/>
              <a:t> </a:t>
            </a:r>
            <a:r>
              <a:rPr dirty="0" err="1"/>
              <a:t>dưới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, </a:t>
            </a:r>
            <a:r>
              <a:rPr dirty="0" err="1"/>
              <a:t>đảm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việc</a:t>
            </a:r>
            <a:r>
              <a:rPr dirty="0"/>
              <a:t>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z ~ N(0, I)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TSTR.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4690872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361688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t>Chi phí Tính toán Thực nghiệm (CPU)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1. Trích xuất đặc trưng Log-Mel (STFT + Mel):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Độ trễ trung vị P50: 3.42 ms | P95: 5.18 ms.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2. Bộ phân loại Classifier (CNN 3 khối):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Số tham số: 21.834 tham số.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Dung lượng file .pt: 363 KB (FP32).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Độ trễ suy luận batch=1: P50 = 2.15 ms | P95 = 3.80 ms.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3. Khối giải mã Decoder (Sinh mẫu):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Số tham số: 1.348.897 tham số.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Độ trễ sinh 1 mẫu phổ: P50 = 8.65 ms | P95 = 12.40 ms.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-&gt; Classifier cực kỳ nhẹ, tối ưu cho bài toán biên.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10. Sẵn sàng Triển khai Nhúng trên Vi Điều Khiển ESP32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8075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4524" y="2374865"/>
            <a:ext cx="292608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Flash ESP32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Tổng</a:t>
            </a:r>
            <a:r>
              <a:rPr dirty="0"/>
              <a:t> Flash ESP32: 4 MB (4.096 KB).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Dung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Classifier FP32: ~87,3 K Flash.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Tỷ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Flash: </a:t>
            </a:r>
            <a:r>
              <a:rPr dirty="0" err="1"/>
              <a:t>chỉ</a:t>
            </a:r>
            <a:r>
              <a:rPr dirty="0"/>
              <a:t> 2.1%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Dung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tử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INT8: ~22 KB Flash (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0.5% Flash).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-&gt; </a:t>
            </a:r>
            <a:r>
              <a:rPr dirty="0" err="1"/>
              <a:t>Thừa</a:t>
            </a:r>
            <a:r>
              <a:rPr dirty="0"/>
              <a:t> </a:t>
            </a:r>
            <a:r>
              <a:rPr dirty="0" err="1"/>
              <a:t>đủ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chứa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chương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viện</a:t>
            </a:r>
            <a:r>
              <a:rPr dirty="0"/>
              <a:t> </a:t>
            </a:r>
            <a:r>
              <a:rPr dirty="0" err="1"/>
              <a:t>khác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8075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2374865"/>
            <a:ext cx="292608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RAM (SRAM)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Tổng</a:t>
            </a:r>
            <a:r>
              <a:rPr dirty="0"/>
              <a:t> SRAM ESP32: 520 KB (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app ~320 KB).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Tensor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: </a:t>
            </a:r>
            <a:r>
              <a:rPr dirty="0" err="1"/>
              <a:t>Lớp</a:t>
            </a:r>
            <a:r>
              <a:rPr dirty="0"/>
              <a:t> Conv 1 [1, 16, 64, 64] -&gt; ~64 KB.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Tensor Arena </a:t>
            </a:r>
            <a:r>
              <a:rPr dirty="0" err="1"/>
              <a:t>cấp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: 64 KB RAM.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Tỷ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SRAM: </a:t>
            </a:r>
            <a:r>
              <a:rPr dirty="0" err="1"/>
              <a:t>chỉ</a:t>
            </a:r>
            <a:r>
              <a:rPr dirty="0"/>
              <a:t> 20% </a:t>
            </a:r>
            <a:r>
              <a:rPr dirty="0" err="1"/>
              <a:t>vùng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 -&gt;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tràn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(OOM)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lắp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chip </a:t>
            </a:r>
            <a:r>
              <a:rPr dirty="0" err="1"/>
              <a:t>nhớ</a:t>
            </a:r>
            <a:r>
              <a:rPr dirty="0"/>
              <a:t> PSRAM </a:t>
            </a:r>
            <a:r>
              <a:rPr dirty="0" err="1"/>
              <a:t>ngoài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28075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2444114"/>
            <a:ext cx="292608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7D32"/>
                </a:solidFill>
              </a:defRPr>
            </a:pPr>
            <a:r>
              <a:rPr dirty="0" err="1"/>
              <a:t>Sản</a:t>
            </a:r>
            <a:r>
              <a:rPr dirty="0"/>
              <a:t> </a:t>
            </a:r>
            <a:r>
              <a:rPr dirty="0" err="1"/>
              <a:t>phẩm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gói</a:t>
            </a:r>
            <a:endParaRPr dirty="0"/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classifier_digits.onnx</a:t>
            </a:r>
            <a:r>
              <a:rPr dirty="0"/>
              <a:t>:</a:t>
            </a:r>
            <a:br>
              <a:rPr dirty="0"/>
            </a:b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ONNX batch=1.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model_data.h</a:t>
            </a:r>
            <a:r>
              <a:rPr dirty="0"/>
              <a:t>:</a:t>
            </a:r>
            <a:br>
              <a:rPr dirty="0"/>
            </a:br>
            <a:r>
              <a:rPr dirty="0" err="1"/>
              <a:t>Tệp</a:t>
            </a:r>
            <a:r>
              <a:rPr dirty="0"/>
              <a:t> </a:t>
            </a:r>
            <a:r>
              <a:rPr dirty="0" err="1"/>
              <a:t>mảng</a:t>
            </a:r>
            <a:r>
              <a:rPr dirty="0"/>
              <a:t> byte C </a:t>
            </a:r>
            <a:r>
              <a:rPr dirty="0" err="1"/>
              <a:t>lưu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Flash PROGMEM.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esp32_inference_example.cpp:</a:t>
            </a:r>
            <a:br>
              <a:rPr dirty="0"/>
            </a:b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nguồn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C++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TensorFlow Lite for Microcontrollers (TFLM).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đọc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I2S microphone (INMP441).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11. Kết Luận &amp; Hướng Phát Triển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39" y="2148840"/>
            <a:ext cx="10060267" cy="2621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02C57"/>
                </a:solidFill>
              </a:defRPr>
            </a:pP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luận</a:t>
            </a:r>
            <a:r>
              <a:rPr dirty="0"/>
              <a:t>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tài</a:t>
            </a:r>
            <a:endParaRPr dirty="0"/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1.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hữu</a:t>
            </a:r>
            <a:r>
              <a:rPr dirty="0"/>
              <a:t> </a:t>
            </a:r>
            <a:r>
              <a:rPr dirty="0" err="1"/>
              <a:t>ích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log-mel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qua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TSTR.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2. Đạt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TSTR 86.00%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,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sụt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12.00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trăm</a:t>
            </a:r>
            <a:r>
              <a:rPr dirty="0"/>
              <a:t> (</a:t>
            </a:r>
            <a:r>
              <a:rPr dirty="0" err="1"/>
              <a:t>thỏa</a:t>
            </a:r>
            <a:r>
              <a:rPr dirty="0"/>
              <a:t> </a:t>
            </a:r>
            <a:r>
              <a:rPr dirty="0" err="1"/>
              <a:t>mãn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&lt;= 15 </a:t>
            </a:r>
            <a:r>
              <a:rPr dirty="0" err="1"/>
              <a:t>điểm</a:t>
            </a:r>
            <a:r>
              <a:rPr dirty="0"/>
              <a:t> %), </a:t>
            </a:r>
            <a:r>
              <a:rPr dirty="0" err="1"/>
              <a:t>tỉ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chuyển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R </a:t>
            </a:r>
            <a:r>
              <a:rPr dirty="0" err="1"/>
              <a:t>đạt</a:t>
            </a:r>
            <a:r>
              <a:rPr dirty="0"/>
              <a:t> 87.76% (</a:t>
            </a:r>
            <a:r>
              <a:rPr dirty="0" err="1"/>
              <a:t>vượt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&gt;= 80%).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3.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hoàn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pipeline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tách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bạch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tuân</a:t>
            </a:r>
            <a:r>
              <a:rPr dirty="0"/>
              <a:t> </a:t>
            </a:r>
            <a:r>
              <a:rPr dirty="0" err="1"/>
              <a:t>thủ</a:t>
            </a:r>
            <a:r>
              <a:rPr dirty="0"/>
              <a:t> </a:t>
            </a:r>
            <a:r>
              <a:rPr dirty="0" err="1"/>
              <a:t>nghiêm</a:t>
            </a:r>
            <a:r>
              <a:rPr dirty="0"/>
              <a:t> </a:t>
            </a:r>
            <a:r>
              <a:rPr dirty="0" err="1"/>
              <a:t>ngặt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mực</a:t>
            </a:r>
            <a:r>
              <a:rPr dirty="0"/>
              <a:t> </a:t>
            </a:r>
            <a:r>
              <a:rPr dirty="0" err="1"/>
              <a:t>liêm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khoa </a:t>
            </a:r>
            <a:r>
              <a:rPr dirty="0" err="1"/>
              <a:t>học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4.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 </a:t>
            </a:r>
            <a:r>
              <a:rPr dirty="0" err="1"/>
              <a:t>hoàn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chip vi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khiển</a:t>
            </a:r>
            <a:r>
              <a:rPr dirty="0"/>
              <a:t> ESP32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ngân</a:t>
            </a:r>
            <a:r>
              <a:rPr dirty="0"/>
              <a:t> </a:t>
            </a:r>
            <a:r>
              <a:rPr dirty="0" err="1"/>
              <a:t>sách</a:t>
            </a:r>
            <a:r>
              <a:rPr dirty="0"/>
              <a:t> Flash ~87 KB </a:t>
            </a:r>
            <a:r>
              <a:rPr dirty="0" err="1"/>
              <a:t>và</a:t>
            </a:r>
            <a:r>
              <a:rPr dirty="0"/>
              <a:t> RAM ~64 KB.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5.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: Thu </a:t>
            </a:r>
            <a:r>
              <a:rPr dirty="0" err="1"/>
              <a:t>thập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giọng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Việt,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tử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INT8 </a:t>
            </a:r>
            <a:r>
              <a:rPr dirty="0" err="1"/>
              <a:t>trên</a:t>
            </a:r>
            <a:r>
              <a:rPr dirty="0"/>
              <a:t> firmware ESP-IDF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khử</a:t>
            </a:r>
            <a:r>
              <a:rPr dirty="0"/>
              <a:t> </a:t>
            </a:r>
            <a:r>
              <a:rPr dirty="0" err="1"/>
              <a:t>nhiễu</a:t>
            </a:r>
            <a:r>
              <a:rPr dirty="0"/>
              <a:t> </a:t>
            </a:r>
            <a:r>
              <a:rPr dirty="0" err="1"/>
              <a:t>môi</a:t>
            </a:r>
            <a:r>
              <a:rPr dirty="0"/>
              <a:t> </a:t>
            </a:r>
            <a:r>
              <a:rPr dirty="0" err="1"/>
              <a:t>trường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3268</Words>
  <Application>Microsoft Office PowerPoint</Application>
  <PresentationFormat>Widescreen</PresentationFormat>
  <Paragraphs>189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LANG TU SI TINH</cp:lastModifiedBy>
  <cp:revision>3</cp:revision>
  <dcterms:created xsi:type="dcterms:W3CDTF">2013-01-27T09:14:16Z</dcterms:created>
  <dcterms:modified xsi:type="dcterms:W3CDTF">2026-10-05T04:34:42Z</dcterms:modified>
  <cp:category/>
</cp:coreProperties>
</file>