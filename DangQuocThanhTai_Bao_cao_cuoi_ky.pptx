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731520"/>
          </a:xfrm>
          <a:prstGeom prst="rect">
            <a:avLst/>
          </a:prstGeom>
          <a:noFill/>
        </p:spPr>
        <p:txBody>
          <a:bodyPr wrap="none">
            <a:spAutoFit/>
          </a:bodyPr>
          <a:lstStyle/>
          <a:p>
            <a:pPr>
              <a:defRPr sz="1300" b="1">
                <a:solidFill>
                  <a:srgbClr val="B4D2FF"/>
                </a:solidFill>
              </a:defRPr>
            </a:pPr>
            <a:r>
              <a:t>TRƯỜNG ĐẠI HỌC CÔNG NGHỆ KỸ THUẬT TP. HỒ CHÍ MINH (HCMUTE)</a:t>
            </a:r>
            <a:br/>
            <a:r>
              <a:t>KHOA CÔNG NGHỆ THÔNG TIN • HỌC PHẦN TRÍ TUỆ NHÂN TẠO CHO IOT</a:t>
            </a:r>
          </a:p>
        </p:txBody>
      </p:sp>
      <p:sp>
        <p:nvSpPr>
          <p:cNvPr id="4" name="TextBox 3"/>
          <p:cNvSpPr txBox="1"/>
          <p:nvPr/>
        </p:nvSpPr>
        <p:spPr>
          <a:xfrm>
            <a:off x="914400" y="1645920"/>
            <a:ext cx="10332720" cy="2011680"/>
          </a:xfrm>
          <a:prstGeom prst="rect">
            <a:avLst/>
          </a:prstGeom>
          <a:noFill/>
        </p:spPr>
        <p:txBody>
          <a:bodyPr wrap="none">
            <a:spAutoFit/>
          </a:bodyPr>
          <a:lstStyle/>
          <a:p>
            <a:pPr>
              <a:defRPr sz="2800" b="1">
                <a:solidFill>
                  <a:srgbClr val="F5F5F5"/>
                </a:solidFill>
              </a:defRPr>
            </a:pPr>
            <a:r>
              <a:t>SINH ĐẶC TRƯNG LOG-MEL CỦA CHỮ SỐ NÓI</a:t>
            </a:r>
            <a:br/>
            <a:r>
              <a:t>BẰNG cVAE VÀ ĐÁNH GIÁ THEO GIAO THỨC TSTR</a:t>
            </a:r>
          </a:p>
          <a:p>
            <a:br/>
            <a:pPr>
              <a:defRPr sz="1400">
                <a:solidFill>
                  <a:srgbClr val="EB8324"/>
                </a:solidFill>
              </a:defRPr>
            </a:pPr>
            <a:r>
              <a:t>Phân nhóm: Tạo sinh (Generative Models) | Mã đề tài: G1</a:t>
            </a:r>
          </a:p>
        </p:txBody>
      </p:sp>
      <p:sp>
        <p:nvSpPr>
          <p:cNvPr id="5" name="Rounded Rectangle 4"/>
          <p:cNvSpPr/>
          <p:nvPr/>
        </p:nvSpPr>
        <p:spPr>
          <a:xfrm>
            <a:off x="914400" y="4114800"/>
            <a:ext cx="10360152"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297680"/>
            <a:ext cx="9601200" cy="1645920"/>
          </a:xfrm>
          <a:prstGeom prst="rect">
            <a:avLst/>
          </a:prstGeom>
          <a:noFill/>
        </p:spPr>
        <p:txBody>
          <a:bodyPr wrap="none">
            <a:spAutoFit/>
          </a:bodyPr>
          <a:lstStyle/>
          <a:p>
            <a:pPr>
              <a:defRPr sz="1300" b="1">
                <a:solidFill>
                  <a:srgbClr val="102C57"/>
                </a:solidFill>
              </a:defRPr>
            </a:pPr>
            <a:r>
              <a:t>Sinh viên thực hiện:  ĐẶNG QUỐC THÀNH TÀI  -  MSSV: 23110149  (Lớp: 261AIOT331185_01CLC)</a:t>
            </a:r>
          </a:p>
          <a:p>
            <a:pPr>
              <a:defRPr sz="1300" b="1">
                <a:solidFill>
                  <a:srgbClr val="1E1E1E"/>
                </a:solidFill>
              </a:defRPr>
            </a:pPr>
            <a:r>
              <a:t>Giảng viên hướng dẫn:  ThS/TS. HỒ NHỰT MINH</a:t>
            </a:r>
          </a:p>
          <a:p>
            <a:pPr>
              <a:defRPr sz="1200">
                <a:solidFill>
                  <a:srgbClr val="505050"/>
                </a:solidFill>
              </a:defRPr>
            </a:pPr>
            <a:r>
              <a:t>Bộ dữ liệu thực nghiệm:  Free Spoken Digit Dataset (FSDD - 3.000 file WAV mono 8 kHz)</a:t>
            </a:r>
          </a:p>
          <a:p>
            <a:pPr>
              <a:defRPr sz="1200">
                <a:solidFill>
                  <a:srgbClr val="3572EF"/>
                </a:solidFill>
              </a:defRPr>
            </a:pPr>
            <a:r>
              <a:t>Mã nguồn GitHub:  https://github.com/DangQuocThanhTai/cvae-spoken-digit-tstr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1. Bối cảnh Kỹ thuật &amp; Phát biểu Bài toán</a:t>
            </a:r>
          </a:p>
        </p:txBody>
      </p:sp>
      <p:sp>
        <p:nvSpPr>
          <p:cNvPr id="4" name="Rounded Rectangle 3"/>
          <p:cNvSpPr/>
          <p:nvPr/>
        </p:nvSpPr>
        <p:spPr>
          <a:xfrm>
            <a:off x="731520" y="1463040"/>
            <a:ext cx="512064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none">
            <a:spAutoFit/>
          </a:bodyPr>
          <a:lstStyle/>
          <a:p>
            <a:pPr>
              <a:defRPr sz="1600" b="1">
                <a:solidFill>
                  <a:srgbClr val="102C57"/>
                </a:solidFill>
              </a:defRPr>
            </a:pPr>
            <a:r>
              <a:t>Thách thức của Bài toán IoT Voice</a:t>
            </a:r>
          </a:p>
          <a:p>
            <a:pPr>
              <a:spcAft>
                <a:spcPts val="800"/>
              </a:spcAft>
              <a:defRPr sz="1250">
                <a:solidFill>
                  <a:srgbClr val="1E1E1E"/>
                </a:solidFill>
              </a:defRPr>
            </a:pPr>
            <a:r>
              <a:t>• Nhận dạng chữ số nói (0–9) là bài toán then chốt trong điều khiển giọng nói (Keyword Spotting) trên thiết bị nhúng.</a:t>
            </a:r>
          </a:p>
          <a:p>
            <a:pPr>
              <a:spcAft>
                <a:spcPts val="800"/>
              </a:spcAft>
              <a:defRPr sz="1250">
                <a:solidFill>
                  <a:srgbClr val="1E1E1E"/>
                </a:solidFill>
              </a:defRPr>
            </a:pPr>
            <a:r>
              <a:t>• Dữ liệu âm thanh thực tế thu thập từ micro thường bị giới hạn về số lượng, tốn kém chi phí gán nhãn và lo ngại bảo mật.</a:t>
            </a:r>
          </a:p>
          <a:p>
            <a:pPr>
              <a:spcAft>
                <a:spcPts val="800"/>
              </a:spcAft>
              <a:defRPr sz="1250">
                <a:solidFill>
                  <a:srgbClr val="1E1E1E"/>
                </a:solidFill>
              </a:defRPr>
            </a:pPr>
            <a:r>
              <a:t>• Mô hình tạo sinh sâu (cVAE) mở ra khả năng tổng hợp dữ liệu (Data Augmentation) cân bằng và phong phú.</a:t>
            </a:r>
          </a:p>
          <a:p>
            <a:pPr>
              <a:spcAft>
                <a:spcPts val="800"/>
              </a:spcAft>
              <a:defRPr sz="1250">
                <a:solidFill>
                  <a:srgbClr val="1E1E1E"/>
                </a:solidFill>
              </a:defRPr>
            </a:pPr>
            <a:r>
              <a:t>• Phạm vi thực tế: Sinh ma trận đặc trưng Log-Mel (1 x 64 x 64), không trực tiếp sinh dạng sóng âm thanh nhằm tiết kiệm tài nguyên.</a:t>
            </a:r>
          </a:p>
        </p:txBody>
      </p:sp>
      <p:sp>
        <p:nvSpPr>
          <p:cNvPr id="6" name="Rounded Rectangle 5"/>
          <p:cNvSpPr/>
          <p:nvPr/>
        </p:nvSpPr>
        <p:spPr>
          <a:xfrm>
            <a:off x="6217920" y="1463040"/>
            <a:ext cx="52120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none">
            <a:spAutoFit/>
          </a:bodyPr>
          <a:lstStyle/>
          <a:p>
            <a:pPr>
              <a:defRPr sz="1600" b="1">
                <a:solidFill>
                  <a:srgbClr val="3572EF"/>
                </a:solidFill>
              </a:defRPr>
            </a:pPr>
            <a:r>
              <a:t>Câu hỏi Nghiên cứu Cốt lõi</a:t>
            </a:r>
          </a:p>
          <a:p>
            <a:pPr>
              <a:spcAft>
                <a:spcPts val="800"/>
              </a:spcAft>
              <a:defRPr sz="1250">
                <a:solidFill>
                  <a:srgbClr val="1E1E1E"/>
                </a:solidFill>
              </a:defRPr>
            </a:pPr>
            <a:r>
              <a:t>• Dữ liệu: Biểu diễn tensor x kích thước [1, 64, 64] với nhãn c in {0, ..., 9}.</a:t>
            </a:r>
          </a:p>
          <a:p>
            <a:pPr>
              <a:spcAft>
                <a:spcPts val="800"/>
              </a:spcAft>
              <a:defRPr sz="1250">
                <a:solidFill>
                  <a:srgbClr val="1E1E1E"/>
                </a:solidFill>
              </a:defRPr>
            </a:pPr>
            <a:r>
              <a:t>• Mô hình: cVAE học phân phối tiềm ẩn z in R^{32} có điều kiện theo chữ số.</a:t>
            </a:r>
          </a:p>
          <a:p>
            <a:pPr>
              <a:spcAft>
                <a:spcPts val="800"/>
              </a:spcAft>
              <a:defRPr sz="1250">
                <a:solidFill>
                  <a:srgbClr val="1E1E1E"/>
                </a:solidFill>
              </a:defRPr>
            </a:pPr>
            <a:r>
              <a:t>• Sinh mẫu: Lấy mẫu z ~ N(0, I) độc lập, kết hợp nhãn c để sinh đặc trưng mới x_syn = f_theta(z, c).</a:t>
            </a:r>
          </a:p>
          <a:p>
            <a:pPr>
              <a:spcAft>
                <a:spcPts val="800"/>
              </a:spcAft>
              <a:defRPr sz="1250">
                <a:solidFill>
                  <a:srgbClr val="1E1E1E"/>
                </a:solidFill>
              </a:defRPr>
            </a:pPr>
            <a:r>
              <a:t>• Câu hỏi nghiên cứu: Với cùng kiến trúc classifier và quy tắc chọn checkpoint, hiệu năng nhận dạng trên tập test thật thay đổi thế nào khi thay dữ liệu huấn luyện thật bằng dữ liệu do cVAE sinh 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2. Mục tiêu Nghiên cứu &amp; Giới hạn Khoa học</a:t>
            </a:r>
          </a:p>
        </p:txBody>
      </p:sp>
      <p:sp>
        <p:nvSpPr>
          <p:cNvPr id="4" name="Rounded Rectangle 3"/>
          <p:cNvSpPr/>
          <p:nvPr/>
        </p:nvSpPr>
        <p:spPr>
          <a:xfrm>
            <a:off x="731520" y="1463040"/>
            <a:ext cx="33832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4389120"/>
          </a:xfrm>
          <a:prstGeom prst="rect">
            <a:avLst/>
          </a:prstGeom>
          <a:noFill/>
        </p:spPr>
        <p:txBody>
          <a:bodyPr wrap="none">
            <a:spAutoFit/>
          </a:bodyPr>
          <a:lstStyle/>
          <a:p>
            <a:pPr>
              <a:defRPr sz="1500" b="1">
                <a:solidFill>
                  <a:srgbClr val="102C57"/>
                </a:solidFill>
              </a:defRPr>
            </a:pPr>
            <a:r>
              <a:t>Mục tiêu Bắt buộc</a:t>
            </a:r>
          </a:p>
          <a:p>
            <a:pPr>
              <a:spcAft>
                <a:spcPts val="600"/>
              </a:spcAft>
              <a:defRPr sz="1200">
                <a:solidFill>
                  <a:srgbClr val="1E1E1E"/>
                </a:solidFill>
              </a:defRPr>
            </a:pPr>
            <a:r>
              <a:t>✓ Xây dựng pipeline tiền xử lý tái lập 100% không rò rỉ.</a:t>
            </a:r>
          </a:p>
          <a:p>
            <a:pPr>
              <a:spcAft>
                <a:spcPts val="600"/>
              </a:spcAft>
              <a:defRPr sz="1200">
                <a:solidFill>
                  <a:srgbClr val="1E1E1E"/>
                </a:solidFill>
              </a:defRPr>
            </a:pPr>
            <a:r>
              <a:t>✓ Huấn luyện cVAE có điều kiện theo 10 chữ số với d_z = 32.</a:t>
            </a:r>
          </a:p>
          <a:p>
            <a:pPr>
              <a:spcAft>
                <a:spcPts val="600"/>
              </a:spcAft>
              <a:defRPr sz="1200">
                <a:solidFill>
                  <a:srgbClr val="1E1E1E"/>
                </a:solidFill>
              </a:defRPr>
            </a:pPr>
            <a:r>
              <a:t>✓ Sinh 2.400 mẫu tổng hợp cân bằng từ phân phối chuẩn tắc N(0, I).</a:t>
            </a:r>
          </a:p>
          <a:p>
            <a:pPr>
              <a:spcAft>
                <a:spcPts val="600"/>
              </a:spcAft>
              <a:defRPr sz="1200">
                <a:solidFill>
                  <a:srgbClr val="1E1E1E"/>
                </a:solidFill>
              </a:defRPr>
            </a:pPr>
            <a:r>
              <a:t>✓ Thực hiện đối chuẩn TRTR và TSTR trên cùng 300 mẫu test thật.</a:t>
            </a:r>
          </a:p>
          <a:p>
            <a:pPr>
              <a:spcAft>
                <a:spcPts val="600"/>
              </a:spcAft>
              <a:defRPr sz="1200">
                <a:solidFill>
                  <a:srgbClr val="1E1E1E"/>
                </a:solidFill>
              </a:defRPr>
            </a:pPr>
            <a:r>
              <a:t>✓ Báo cáo trung thực số liệu truy xuất được từ mã nguồn.</a:t>
            </a:r>
          </a:p>
        </p:txBody>
      </p:sp>
      <p:sp>
        <p:nvSpPr>
          <p:cNvPr id="6" name="Rounded Rectangle 5"/>
          <p:cNvSpPr/>
          <p:nvPr/>
        </p:nvSpPr>
        <p:spPr>
          <a:xfrm>
            <a:off x="4389120" y="1463040"/>
            <a:ext cx="33832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4389120"/>
          </a:xfrm>
          <a:prstGeom prst="rect">
            <a:avLst/>
          </a:prstGeom>
          <a:noFill/>
        </p:spPr>
        <p:txBody>
          <a:bodyPr wrap="none">
            <a:spAutoFit/>
          </a:bodyPr>
          <a:lstStyle/>
          <a:p>
            <a:pPr>
              <a:defRPr sz="1500" b="1">
                <a:solidFill>
                  <a:srgbClr val="3572EF"/>
                </a:solidFill>
              </a:defRPr>
            </a:pPr>
            <a:r>
              <a:t>Mục tiêu Định hướng</a:t>
            </a:r>
          </a:p>
          <a:p>
            <a:pPr>
              <a:spcAft>
                <a:spcPts val="600"/>
              </a:spcAft>
              <a:defRPr sz="1200">
                <a:solidFill>
                  <a:srgbClr val="1E1E1E"/>
                </a:solidFill>
              </a:defRPr>
            </a:pPr>
            <a:r>
              <a:t>🎯 Accuracy TRTR tham chiếu: Đạt từ 90% trở lên.</a:t>
            </a:r>
          </a:p>
          <a:p>
            <a:pPr>
              <a:spcAft>
                <a:spcPts val="600"/>
              </a:spcAft>
              <a:defRPr sz="1200">
                <a:solidFill>
                  <a:srgbClr val="1E1E1E"/>
                </a:solidFill>
              </a:defRPr>
            </a:pPr>
            <a:r>
              <a:t>🎯 Mức sụt giảm Delta_pp: Không vượt quá 15 điểm phần trăm so với TRTR.</a:t>
            </a:r>
          </a:p>
          <a:p>
            <a:pPr>
              <a:spcAft>
                <a:spcPts val="600"/>
              </a:spcAft>
              <a:defRPr sz="1200">
                <a:solidFill>
                  <a:srgbClr val="1E1E1E"/>
                </a:solidFill>
              </a:defRPr>
            </a:pPr>
            <a:r>
              <a:t>🎯 Tỉ số chuyển giao năng lực R = a_TSTR / a_TRTR &gt;= 80%.</a:t>
            </a:r>
          </a:p>
          <a:p>
            <a:pPr>
              <a:spcAft>
                <a:spcPts val="600"/>
              </a:spcAft>
              <a:defRPr sz="1200">
                <a:solidFill>
                  <a:srgbClr val="1E1E1E"/>
                </a:solidFill>
              </a:defRPr>
            </a:pPr>
            <a:r>
              <a:t>🎯 Ma trận nhầm lẫn và Recall cân bằng trên cả 10 chữ số (0–9).</a:t>
            </a:r>
          </a:p>
          <a:p>
            <a:pPr>
              <a:spcAft>
                <a:spcPts val="600"/>
              </a:spcAft>
              <a:defRPr sz="1200">
                <a:solidFill>
                  <a:srgbClr val="1E1E1E"/>
                </a:solidFill>
              </a:defRPr>
            </a:pPr>
            <a:r>
              <a:t>🎯 Đạt được các mốc thực tế mà không cần lọc mẫu nhân tạo.</a:t>
            </a:r>
          </a:p>
        </p:txBody>
      </p:sp>
      <p:sp>
        <p:nvSpPr>
          <p:cNvPr id="8" name="Rounded Rectangle 7"/>
          <p:cNvSpPr/>
          <p:nvPr/>
        </p:nvSpPr>
        <p:spPr>
          <a:xfrm>
            <a:off x="8046720" y="1463040"/>
            <a:ext cx="33832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389120"/>
          </a:xfrm>
          <a:prstGeom prst="rect">
            <a:avLst/>
          </a:prstGeom>
          <a:noFill/>
        </p:spPr>
        <p:txBody>
          <a:bodyPr wrap="none">
            <a:spAutoFit/>
          </a:bodyPr>
          <a:lstStyle/>
          <a:p>
            <a:pPr>
              <a:defRPr sz="1500" b="1">
                <a:solidFill>
                  <a:srgbClr val="EB8324"/>
                </a:solidFill>
              </a:defRPr>
            </a:pPr>
            <a:r>
              <a:t>Giới hạn Khoa học</a:t>
            </a:r>
          </a:p>
          <a:p>
            <a:pPr>
              <a:spcAft>
                <a:spcPts val="600"/>
              </a:spcAft>
              <a:defRPr sz="1200">
                <a:solidFill>
                  <a:srgbClr val="1E1E1E"/>
                </a:solidFill>
              </a:defRPr>
            </a:pPr>
            <a:r>
              <a:t>⚠ Giới hạn người nói: 6 người nói trong cả Train, Val và Test -&gt; Không khẳng định tổng quát cho người nói mới.</a:t>
            </a:r>
          </a:p>
          <a:p>
            <a:pPr>
              <a:spcAft>
                <a:spcPts val="600"/>
              </a:spcAft>
              <a:defRPr sz="1200">
                <a:solidFill>
                  <a:srgbClr val="1E1E1E"/>
                </a:solidFill>
              </a:defRPr>
            </a:pPr>
            <a:r>
              <a:t>⚠ Giới hạn phần cứng: Đo latency trên máy tính -&gt; Không tuyên bố thời gian thực trên ESP32 khi chưa nạp.</a:t>
            </a:r>
          </a:p>
          <a:p>
            <a:pPr>
              <a:spcAft>
                <a:spcPts val="600"/>
              </a:spcAft>
              <a:defRPr sz="1200">
                <a:solidFill>
                  <a:srgbClr val="1E1E1E"/>
                </a:solidFill>
              </a:defRPr>
            </a:pPr>
            <a:r>
              <a:t>⚠ Giới hạn âm thanh: Khôi phục Griffin-Lim là minh họa xấp xỉ, không thay thế kiểm định thính giác.</a:t>
            </a:r>
          </a:p>
          <a:p>
            <a:pPr>
              <a:spcAft>
                <a:spcPts val="600"/>
              </a:spcAft>
              <a:defRPr sz="1200">
                <a:solidFill>
                  <a:srgbClr val="1E1E1E"/>
                </a:solidFill>
              </a:defRPr>
            </a:pPr>
            <a:r>
              <a:t>⚠ Sẵn sàng nhúng: Xuất ONNX, C header array và code mẫu ESP32.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3. Bộ dữ liệu FSDD &amp; Pipeline Tiền xử lý 6 Bước</a:t>
            </a:r>
          </a:p>
        </p:txBody>
      </p:sp>
      <p:sp>
        <p:nvSpPr>
          <p:cNvPr id="4" name="Rounded Rectangle 3"/>
          <p:cNvSpPr/>
          <p:nvPr/>
        </p:nvSpPr>
        <p:spPr>
          <a:xfrm>
            <a:off x="731520" y="1463040"/>
            <a:ext cx="3383280" cy="2194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1920240"/>
          </a:xfrm>
          <a:prstGeom prst="rect">
            <a:avLst/>
          </a:prstGeom>
          <a:noFill/>
        </p:spPr>
        <p:txBody>
          <a:bodyPr wrap="none">
            <a:spAutoFit/>
          </a:bodyPr>
          <a:lstStyle/>
          <a:p>
            <a:pPr>
              <a:spcAft>
                <a:spcPts val="400"/>
              </a:spcAft>
              <a:defRPr sz="1300" b="1">
                <a:solidFill>
                  <a:srgbClr val="102C57"/>
                </a:solidFill>
              </a:defRPr>
            </a:pPr>
            <a:r>
              <a:t>Bước 1: Đọc WAV</a:t>
            </a:r>
          </a:p>
          <a:p>
            <a:pPr>
              <a:defRPr sz="1100">
                <a:solidFill>
                  <a:srgbClr val="1E1E1E"/>
                </a:solidFill>
              </a:defRPr>
            </a:pPr>
            <a:r>
              <a:t>Tần số 8.000 Hz, mono, thang [-1, 1]. Không chuẩn hóa đỉnh để bảo tồn năng lượng.</a:t>
            </a:r>
          </a:p>
        </p:txBody>
      </p:sp>
      <p:sp>
        <p:nvSpPr>
          <p:cNvPr id="6" name="Rounded Rectangle 5"/>
          <p:cNvSpPr/>
          <p:nvPr/>
        </p:nvSpPr>
        <p:spPr>
          <a:xfrm>
            <a:off x="4389120" y="1463040"/>
            <a:ext cx="3383280" cy="2194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00200"/>
            <a:ext cx="3017520" cy="1920240"/>
          </a:xfrm>
          <a:prstGeom prst="rect">
            <a:avLst/>
          </a:prstGeom>
          <a:noFill/>
        </p:spPr>
        <p:txBody>
          <a:bodyPr wrap="none">
            <a:spAutoFit/>
          </a:bodyPr>
          <a:lstStyle/>
          <a:p>
            <a:pPr>
              <a:spcAft>
                <a:spcPts val="400"/>
              </a:spcAft>
              <a:defRPr sz="1300" b="1">
                <a:solidFill>
                  <a:srgbClr val="102C57"/>
                </a:solidFill>
              </a:defRPr>
            </a:pPr>
            <a:r>
              <a:t>Bước 2: Cố định 8.000 mẫu</a:t>
            </a:r>
          </a:p>
          <a:p>
            <a:pPr>
              <a:defRPr sz="1100">
                <a:solidFill>
                  <a:srgbClr val="1E1E1E"/>
                </a:solidFill>
              </a:defRPr>
            </a:pPr>
            <a:r>
              <a:t>1,0 giây tín hiệu. Đệm 0 ở cuối nếu ngắn; cắt đoạn giữa nếu dài. Chỉ 14/2400 file bị cắt (0.58%).</a:t>
            </a:r>
          </a:p>
        </p:txBody>
      </p:sp>
      <p:sp>
        <p:nvSpPr>
          <p:cNvPr id="8" name="Rounded Rectangle 7"/>
          <p:cNvSpPr/>
          <p:nvPr/>
        </p:nvSpPr>
        <p:spPr>
          <a:xfrm>
            <a:off x="8046720" y="1463040"/>
            <a:ext cx="3383280" cy="2194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00200"/>
            <a:ext cx="3017520" cy="1920240"/>
          </a:xfrm>
          <a:prstGeom prst="rect">
            <a:avLst/>
          </a:prstGeom>
          <a:noFill/>
        </p:spPr>
        <p:txBody>
          <a:bodyPr wrap="none">
            <a:spAutoFit/>
          </a:bodyPr>
          <a:lstStyle/>
          <a:p>
            <a:pPr>
              <a:spcAft>
                <a:spcPts val="400"/>
              </a:spcAft>
              <a:defRPr sz="1300" b="1">
                <a:solidFill>
                  <a:srgbClr val="102C57"/>
                </a:solidFill>
              </a:defRPr>
            </a:pPr>
            <a:r>
              <a:t>Bước 3: STFT &amp; 64 Mel</a:t>
            </a:r>
          </a:p>
          <a:p>
            <a:pPr>
              <a:defRPr sz="1100">
                <a:solidFill>
                  <a:srgbClr val="1E1E1E"/>
                </a:solidFill>
              </a:defRPr>
            </a:pPr>
            <a:r>
              <a:t>n_fft = win_len = 256, hop = 128, Hann, center = True. 64 dải Mel (0-4000 Hz) -&gt; 63 khung thời gian.</a:t>
            </a:r>
          </a:p>
        </p:txBody>
      </p:sp>
      <p:sp>
        <p:nvSpPr>
          <p:cNvPr id="10" name="Rounded Rectangle 9"/>
          <p:cNvSpPr/>
          <p:nvPr/>
        </p:nvSpPr>
        <p:spPr>
          <a:xfrm>
            <a:off x="731520" y="3840480"/>
            <a:ext cx="3383280" cy="2194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40"/>
            <a:ext cx="3017520" cy="1920240"/>
          </a:xfrm>
          <a:prstGeom prst="rect">
            <a:avLst/>
          </a:prstGeom>
          <a:noFill/>
        </p:spPr>
        <p:txBody>
          <a:bodyPr wrap="none">
            <a:spAutoFit/>
          </a:bodyPr>
          <a:lstStyle/>
          <a:p>
            <a:pPr>
              <a:spcAft>
                <a:spcPts val="400"/>
              </a:spcAft>
              <a:defRPr sz="1300" b="1">
                <a:solidFill>
                  <a:srgbClr val="102C57"/>
                </a:solidFill>
              </a:defRPr>
            </a:pPr>
            <a:r>
              <a:t>Bước 4: Log-Mel dB &amp; Đệm cột</a:t>
            </a:r>
          </a:p>
          <a:p>
            <a:pPr>
              <a:defRPr sz="1100">
                <a:solidFill>
                  <a:srgbClr val="1E1E1E"/>
                </a:solidFill>
              </a:defRPr>
            </a:pPr>
            <a:r>
              <a:t>L = 10*log10(max(M, 1e-8)). Thêm 1 cột -80 dB ở cuối -&gt; Tensor chuẩn ma trận 64 x 64.</a:t>
            </a:r>
          </a:p>
        </p:txBody>
      </p:sp>
      <p:sp>
        <p:nvSpPr>
          <p:cNvPr id="12" name="Rounded Rectangle 11"/>
          <p:cNvSpPr/>
          <p:nvPr/>
        </p:nvSpPr>
        <p:spPr>
          <a:xfrm>
            <a:off x="4389120" y="3840480"/>
            <a:ext cx="3383280" cy="2194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977640"/>
            <a:ext cx="3017520" cy="1920240"/>
          </a:xfrm>
          <a:prstGeom prst="rect">
            <a:avLst/>
          </a:prstGeom>
          <a:noFill/>
        </p:spPr>
        <p:txBody>
          <a:bodyPr wrap="none">
            <a:spAutoFit/>
          </a:bodyPr>
          <a:lstStyle/>
          <a:p>
            <a:pPr>
              <a:spcAft>
                <a:spcPts val="400"/>
              </a:spcAft>
              <a:defRPr sz="1300" b="1">
                <a:solidFill>
                  <a:srgbClr val="102C57"/>
                </a:solidFill>
              </a:defRPr>
            </a:pPr>
            <a:r>
              <a:t>Bước 5: Chuẩn hóa z-score</a:t>
            </a:r>
          </a:p>
          <a:p>
            <a:pPr>
              <a:defRPr sz="1100">
                <a:solidFill>
                  <a:srgbClr val="1E1E1E"/>
                </a:solidFill>
              </a:defRPr>
            </a:pPr>
            <a:r>
              <a:t>Tính mu_m và sigma_m CHỈ TRÊN 2.400 mẫu Train. Áp dụng cố định cho Val, Test và dữ liệu sinh.</a:t>
            </a:r>
          </a:p>
        </p:txBody>
      </p:sp>
      <p:sp>
        <p:nvSpPr>
          <p:cNvPr id="14" name="Rounded Rectangle 13"/>
          <p:cNvSpPr/>
          <p:nvPr/>
        </p:nvSpPr>
        <p:spPr>
          <a:xfrm>
            <a:off x="8046720" y="3840480"/>
            <a:ext cx="3383280" cy="219456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3977640"/>
            <a:ext cx="3017520" cy="1920240"/>
          </a:xfrm>
          <a:prstGeom prst="rect">
            <a:avLst/>
          </a:prstGeom>
          <a:noFill/>
        </p:spPr>
        <p:txBody>
          <a:bodyPr wrap="none">
            <a:spAutoFit/>
          </a:bodyPr>
          <a:lstStyle/>
          <a:p>
            <a:pPr>
              <a:spcAft>
                <a:spcPts val="400"/>
              </a:spcAft>
              <a:defRPr sz="1300" b="1">
                <a:solidFill>
                  <a:srgbClr val="102C57"/>
                </a:solidFill>
              </a:defRPr>
            </a:pPr>
            <a:r>
              <a:t>Bước 6: Tạo Tensor [1, 64, 64]</a:t>
            </a:r>
          </a:p>
          <a:p>
            <a:pPr>
              <a:defRPr sz="1100">
                <a:solidFill>
                  <a:srgbClr val="1E1E1E"/>
                </a:solidFill>
              </a:defRPr>
            </a:pPr>
            <a:r>
              <a:t>Thêm chiều kênh. Kiểm tra tự động xác nhận không NaN, không Inf, nhãn 0–9 cân bằng.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4. Phân chia Dữ liệu Nghiêm ngặt &amp; Phòng chống Rò rỉ</a:t>
            </a:r>
          </a:p>
        </p:txBody>
      </p:sp>
      <p:sp>
        <p:nvSpPr>
          <p:cNvPr id="4" name="Rounded Rectangle 3"/>
          <p:cNvSpPr/>
          <p:nvPr/>
        </p:nvSpPr>
        <p:spPr>
          <a:xfrm>
            <a:off x="731520" y="1463040"/>
            <a:ext cx="338328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3749040"/>
          </a:xfrm>
          <a:prstGeom prst="rect">
            <a:avLst/>
          </a:prstGeom>
          <a:noFill/>
        </p:spPr>
        <p:txBody>
          <a:bodyPr wrap="none">
            <a:spAutoFit/>
          </a:bodyPr>
          <a:lstStyle/>
          <a:p>
            <a:pPr>
              <a:spcAft>
                <a:spcPts val="800"/>
              </a:spcAft>
              <a:defRPr sz="1400" b="1">
                <a:solidFill>
                  <a:srgbClr val="102C57"/>
                </a:solidFill>
              </a:defRPr>
            </a:pPr>
            <a:r>
              <a:t>Tập Huấn luyện Thật (Train)</a:t>
            </a:r>
          </a:p>
          <a:p>
            <a:pPr>
              <a:spcAft>
                <a:spcPts val="600"/>
              </a:spcAft>
            </a:pPr>
            <a:r>
              <a:rPr b="1" sz="1150"/>
              <a:t>Quy mô: </a:t>
            </a:r>
            <a:r>
              <a:rPr sz="1150"/>
              <a:t>2.400 mẫu (80%)</a:t>
            </a:r>
          </a:p>
          <a:p>
            <a:pPr>
              <a:spcAft>
                <a:spcPts val="600"/>
              </a:spcAft>
            </a:pPr>
            <a:r>
              <a:rPr b="1" sz="1150"/>
              <a:t>Phạm vi tệp: </a:t>
            </a:r>
            <a:r>
              <a:rPr sz="1150"/>
              <a:t>Chỉ số index: 10 – 49</a:t>
            </a:r>
          </a:p>
          <a:p>
            <a:pPr>
              <a:spcAft>
                <a:spcPts val="600"/>
              </a:spcAft>
            </a:pPr>
            <a:r>
              <a:rPr b="1" sz="1150"/>
              <a:t>Độ cân bằng: </a:t>
            </a:r>
            <a:r>
              <a:rPr sz="1150"/>
              <a:t>240 mẫu / chữ số</a:t>
            </a:r>
          </a:p>
          <a:p>
            <a:pPr>
              <a:spcAft>
                <a:spcPts val="600"/>
              </a:spcAft>
            </a:pPr>
            <a:r>
              <a:rPr b="1" sz="1150"/>
              <a:t>Vai trò: </a:t>
            </a:r>
            <a:r>
              <a:rPr sz="1150"/>
              <a:t>Cập nhật gradient cVAE &amp; Classifier TRTR. Tính thống kê chuẩn hóa z-score mu và sigma.</a:t>
            </a:r>
          </a:p>
        </p:txBody>
      </p:sp>
      <p:sp>
        <p:nvSpPr>
          <p:cNvPr id="6" name="Rounded Rectangle 5"/>
          <p:cNvSpPr/>
          <p:nvPr/>
        </p:nvSpPr>
        <p:spPr>
          <a:xfrm>
            <a:off x="4389120" y="1463040"/>
            <a:ext cx="338328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3749040"/>
          </a:xfrm>
          <a:prstGeom prst="rect">
            <a:avLst/>
          </a:prstGeom>
          <a:noFill/>
        </p:spPr>
        <p:txBody>
          <a:bodyPr wrap="none">
            <a:spAutoFit/>
          </a:bodyPr>
          <a:lstStyle/>
          <a:p>
            <a:pPr>
              <a:spcAft>
                <a:spcPts val="800"/>
              </a:spcAft>
              <a:defRPr sz="1400" b="1">
                <a:solidFill>
                  <a:srgbClr val="3572EF"/>
                </a:solidFill>
              </a:defRPr>
            </a:pPr>
            <a:r>
              <a:t>Tập Validation Thật (Val)</a:t>
            </a:r>
          </a:p>
          <a:p>
            <a:pPr>
              <a:spcAft>
                <a:spcPts val="600"/>
              </a:spcAft>
            </a:pPr>
            <a:r>
              <a:rPr b="1" sz="1150"/>
              <a:t>Quy mô: </a:t>
            </a:r>
            <a:r>
              <a:rPr sz="1150"/>
              <a:t>300 mẫu (10%)</a:t>
            </a:r>
          </a:p>
          <a:p>
            <a:pPr>
              <a:spcAft>
                <a:spcPts val="600"/>
              </a:spcAft>
            </a:pPr>
            <a:r>
              <a:rPr b="1" sz="1150"/>
              <a:t>Phạm vi tệp: </a:t>
            </a:r>
            <a:r>
              <a:rPr sz="1150"/>
              <a:t>Chỉ số index: 5 – 9</a:t>
            </a:r>
          </a:p>
          <a:p>
            <a:pPr>
              <a:spcAft>
                <a:spcPts val="600"/>
              </a:spcAft>
            </a:pPr>
            <a:r>
              <a:rPr b="1" sz="1150"/>
              <a:t>Độ cân bằng: </a:t>
            </a:r>
            <a:r>
              <a:rPr sz="1150"/>
              <a:t>30 mẫu / chữ số</a:t>
            </a:r>
          </a:p>
          <a:p>
            <a:pPr>
              <a:spcAft>
                <a:spcPts val="600"/>
              </a:spcAft>
            </a:pPr>
            <a:r>
              <a:rPr b="1" sz="1150"/>
              <a:t>Vai trò: </a:t>
            </a:r>
            <a:r>
              <a:rPr sz="1150"/>
              <a:t>Dùng chung cho cả TRTR và TSTR để Early Stopping và chọn checkpoint tốt nhất. Không cập nhật gradient.</a:t>
            </a:r>
          </a:p>
        </p:txBody>
      </p:sp>
      <p:sp>
        <p:nvSpPr>
          <p:cNvPr id="8" name="Rounded Rectangle 7"/>
          <p:cNvSpPr/>
          <p:nvPr/>
        </p:nvSpPr>
        <p:spPr>
          <a:xfrm>
            <a:off x="8046720" y="1463040"/>
            <a:ext cx="3383280" cy="41148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3749040"/>
          </a:xfrm>
          <a:prstGeom prst="rect">
            <a:avLst/>
          </a:prstGeom>
          <a:noFill/>
        </p:spPr>
        <p:txBody>
          <a:bodyPr wrap="none">
            <a:spAutoFit/>
          </a:bodyPr>
          <a:lstStyle/>
          <a:p>
            <a:pPr>
              <a:spcAft>
                <a:spcPts val="800"/>
              </a:spcAft>
              <a:defRPr sz="1400" b="1">
                <a:solidFill>
                  <a:srgbClr val="2E7D32"/>
                </a:solidFill>
              </a:defRPr>
            </a:pPr>
            <a:r>
              <a:t>Tập Kiểm tra Thật (Test)</a:t>
            </a:r>
          </a:p>
          <a:p>
            <a:pPr>
              <a:spcAft>
                <a:spcPts val="600"/>
              </a:spcAft>
            </a:pPr>
            <a:r>
              <a:rPr b="1" sz="1150"/>
              <a:t>Quy mô: </a:t>
            </a:r>
            <a:r>
              <a:rPr sz="1150"/>
              <a:t>300 mẫu (10%)</a:t>
            </a:r>
          </a:p>
          <a:p>
            <a:pPr>
              <a:spcAft>
                <a:spcPts val="600"/>
              </a:spcAft>
            </a:pPr>
            <a:r>
              <a:rPr b="1" sz="1150"/>
              <a:t>Phạm vi tệp: </a:t>
            </a:r>
            <a:r>
              <a:rPr sz="1150"/>
              <a:t>Chỉ số index: 0 – 4</a:t>
            </a:r>
          </a:p>
          <a:p>
            <a:pPr>
              <a:spcAft>
                <a:spcPts val="600"/>
              </a:spcAft>
            </a:pPr>
            <a:r>
              <a:rPr b="1" sz="1150"/>
              <a:t>Độ cân bằng: </a:t>
            </a:r>
            <a:r>
              <a:rPr sz="1150"/>
              <a:t>30 mẫu / chữ số</a:t>
            </a:r>
          </a:p>
          <a:p>
            <a:pPr>
              <a:spcAft>
                <a:spcPts val="600"/>
              </a:spcAft>
            </a:pPr>
            <a:r>
              <a:rPr b="1" sz="1150"/>
              <a:t>Vai trò: </a:t>
            </a:r>
            <a:r>
              <a:rPr sz="1150"/>
              <a:t>Đánh giá độc lập cuối cùng cho cả TRTR và TSTR sau khi đã khóa mô hình. Không can thiệp.</a:t>
            </a:r>
          </a:p>
        </p:txBody>
      </p:sp>
      <p:sp>
        <p:nvSpPr>
          <p:cNvPr id="10" name="Rounded Rectangle 9"/>
          <p:cNvSpPr/>
          <p:nvPr/>
        </p:nvSpPr>
        <p:spPr>
          <a:xfrm>
            <a:off x="731520" y="5760720"/>
            <a:ext cx="10698480" cy="731520"/>
          </a:xfrm>
          <a:prstGeom prst="roundRect">
            <a:avLst/>
          </a:prstGeom>
          <a:solidFill>
            <a:srgbClr val="E6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0332720" cy="640080"/>
          </a:xfrm>
          <a:prstGeom prst="rect">
            <a:avLst/>
          </a:prstGeom>
          <a:noFill/>
        </p:spPr>
        <p:txBody>
          <a:bodyPr wrap="none">
            <a:spAutoFit/>
          </a:bodyPr>
          <a:lstStyle/>
          <a:p>
            <a:pPr>
              <a:defRPr sz="1200" b="1">
                <a:solidFill>
                  <a:srgbClr val="2E7D32"/>
                </a:solidFill>
              </a:defRPr>
            </a:pPr>
            <a:r>
              <a:t>✓ Cam kết liêm chính: Kiểm tra tự động xác nhận số file giao nhau giữa 3 tập là 0. Không rò rỉ mẫu, không rò rỉ tham số chuẩn hóa!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5. Kiến trúc Mạng cVAE Chi tiết</a:t>
            </a:r>
          </a:p>
        </p:txBody>
      </p:sp>
      <p:sp>
        <p:nvSpPr>
          <p:cNvPr id="4" name="Rounded Rectangle 3"/>
          <p:cNvSpPr/>
          <p:nvPr/>
        </p:nvSpPr>
        <p:spPr>
          <a:xfrm>
            <a:off x="731520" y="1463040"/>
            <a:ext cx="512064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none">
            <a:spAutoFit/>
          </a:bodyPr>
          <a:lstStyle/>
          <a:p>
            <a:pPr>
              <a:defRPr sz="1500" b="1">
                <a:solidFill>
                  <a:srgbClr val="102C57"/>
                </a:solidFill>
              </a:defRPr>
            </a:pPr>
            <a:r>
              <a:t>Bộ Mã hóa (Encoder) &amp; Không gian Tiềm ẩn</a:t>
            </a:r>
          </a:p>
          <a:p>
            <a:pPr>
              <a:spcAft>
                <a:spcPts val="300"/>
              </a:spcAft>
              <a:defRPr sz="1100">
                <a:solidFill>
                  <a:srgbClr val="1E1E1E"/>
                </a:solidFill>
              </a:defRPr>
            </a:pPr>
            <a:r>
              <a:t>• Đầu vào phổ: [B, 1, 64, 64]</a:t>
            </a:r>
          </a:p>
          <a:p>
            <a:pPr>
              <a:spcAft>
                <a:spcPts val="300"/>
              </a:spcAft>
              <a:defRPr sz="1100">
                <a:solidFill>
                  <a:srgbClr val="1E1E1E"/>
                </a:solidFill>
              </a:defRPr>
            </a:pPr>
            <a:r>
              <a:t>• Tầng 1: Conv2D(1 -&gt; 32, k=4, s=2, p=1) -&gt; ReLU -&gt; [B, 32, 32, 32]</a:t>
            </a:r>
          </a:p>
          <a:p>
            <a:pPr>
              <a:spcAft>
                <a:spcPts val="300"/>
              </a:spcAft>
              <a:defRPr sz="1100">
                <a:solidFill>
                  <a:srgbClr val="1E1E1E"/>
                </a:solidFill>
              </a:defRPr>
            </a:pPr>
            <a:r>
              <a:t>• Tầng 2: Conv2D(32 -&gt; 64, k=4, s=2, p=1) -&gt; ReLU -&gt; [B, 64, 16, 16]</a:t>
            </a:r>
          </a:p>
          <a:p>
            <a:pPr>
              <a:spcAft>
                <a:spcPts val="300"/>
              </a:spcAft>
              <a:defRPr sz="1100">
                <a:solidFill>
                  <a:srgbClr val="1E1E1E"/>
                </a:solidFill>
              </a:defRPr>
            </a:pPr>
            <a:r>
              <a:t>• Tầng 3: Conv2D(64 -&gt; 128, k=4, s=2, p=1) -&gt; ReLU -&gt; [B, 128, 8, 8]</a:t>
            </a:r>
          </a:p>
          <a:p>
            <a:pPr>
              <a:spcAft>
                <a:spcPts val="300"/>
              </a:spcAft>
              <a:defRPr sz="1100">
                <a:solidFill>
                  <a:srgbClr val="1E1E1E"/>
                </a:solidFill>
              </a:defRPr>
            </a:pPr>
            <a:r>
              <a:t>• Tầng 4: Conv2D(128 -&gt; 256, k=4, s=2, p=1) -&gt; ReLU -&gt; [B, 256, 4, 4]</a:t>
            </a:r>
          </a:p>
          <a:p>
            <a:pPr>
              <a:spcAft>
                <a:spcPts val="300"/>
              </a:spcAft>
              <a:defRPr sz="1100">
                <a:solidFill>
                  <a:srgbClr val="1E1E1E"/>
                </a:solidFill>
              </a:defRPr>
            </a:pPr>
            <a:r>
              <a:t>• Flatten: 256 * 4 * 4 = 4.096 chiều.</a:t>
            </a:r>
          </a:p>
          <a:p>
            <a:pPr>
              <a:spcAft>
                <a:spcPts val="300"/>
              </a:spcAft>
              <a:defRPr sz="1100">
                <a:solidFill>
                  <a:srgbClr val="1E1E1E"/>
                </a:solidFill>
              </a:defRPr>
            </a:pPr>
            <a:r>
              <a:t>• Ghép nối nhãn: Vector one-hot 10 chiều -&gt; 4.106 chiều.</a:t>
            </a:r>
          </a:p>
          <a:p>
            <a:pPr>
              <a:spcAft>
                <a:spcPts val="300"/>
              </a:spcAft>
              <a:defRPr sz="1100">
                <a:solidFill>
                  <a:srgbClr val="1E1E1E"/>
                </a:solidFill>
              </a:defRPr>
            </a:pPr>
            <a:r>
              <a:t>• Hai nhánh tuyến tính độc lập: mu và ell = log(sigma^2) ∈ R^{32}.</a:t>
            </a:r>
          </a:p>
          <a:p>
            <a:pPr>
              <a:spcAft>
                <a:spcPts val="300"/>
              </a:spcAft>
              <a:defRPr sz="1100">
                <a:solidFill>
                  <a:srgbClr val="1E1E1E"/>
                </a:solidFill>
              </a:defRPr>
            </a:pPr>
            <a:r>
              <a:t>• Tái tham số hóa: z = mu + exp(ell/2) * eps, eps ~ N(0, I).</a:t>
            </a:r>
          </a:p>
        </p:txBody>
      </p:sp>
      <p:sp>
        <p:nvSpPr>
          <p:cNvPr id="6" name="Rounded Rectangle 5"/>
          <p:cNvSpPr/>
          <p:nvPr/>
        </p:nvSpPr>
        <p:spPr>
          <a:xfrm>
            <a:off x="6217920" y="1463040"/>
            <a:ext cx="52120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none">
            <a:spAutoFit/>
          </a:bodyPr>
          <a:lstStyle/>
          <a:p>
            <a:pPr>
              <a:defRPr sz="1500" b="1">
                <a:solidFill>
                  <a:srgbClr val="3572EF"/>
                </a:solidFill>
              </a:defRPr>
            </a:pPr>
            <a:r>
              <a:t>Bộ Giải mã (Decoder) &amp; Khôi phục Phổ</a:t>
            </a:r>
          </a:p>
          <a:p>
            <a:pPr>
              <a:spcAft>
                <a:spcPts val="400"/>
              </a:spcAft>
              <a:defRPr sz="1150">
                <a:solidFill>
                  <a:srgbClr val="1E1E1E"/>
                </a:solidFill>
              </a:defRPr>
            </a:pPr>
            <a:r>
              <a:t>• Đầu vào tiềm ẩn: Vector z (32 chiều) nối one-hot (10 chiều) -&gt; 42 chiều.</a:t>
            </a:r>
          </a:p>
          <a:p>
            <a:pPr>
              <a:spcAft>
                <a:spcPts val="400"/>
              </a:spcAft>
              <a:defRPr sz="1150">
                <a:solidFill>
                  <a:srgbClr val="1E1E1E"/>
                </a:solidFill>
              </a:defRPr>
            </a:pPr>
            <a:r>
              <a:t>• Chiếu tuyến tính: Linear(42 -&gt; 4.096) -&gt; ReLU -&gt; Reshape [B, 256, 4, 4].</a:t>
            </a:r>
          </a:p>
          <a:p>
            <a:pPr>
              <a:spcAft>
                <a:spcPts val="400"/>
              </a:spcAft>
              <a:defRPr sz="1150">
                <a:solidFill>
                  <a:srgbClr val="1E1E1E"/>
                </a:solidFill>
              </a:defRPr>
            </a:pPr>
            <a:r>
              <a:t>• Tầng Deconv 1: ConvTranspose2D(256 -&gt; 128, k=4, s=2, p=1) -&gt; ReLU -&gt; [B, 128, 8, 8]</a:t>
            </a:r>
          </a:p>
          <a:p>
            <a:pPr>
              <a:spcAft>
                <a:spcPts val="400"/>
              </a:spcAft>
              <a:defRPr sz="1150">
                <a:solidFill>
                  <a:srgbClr val="1E1E1E"/>
                </a:solidFill>
              </a:defRPr>
            </a:pPr>
            <a:r>
              <a:t>• Tầng Deconv 2: ConvTranspose2D(128 -&gt; 64, k=4, s=2, p=1) -&gt; ReLU -&gt; [B, 64, 16, 16]</a:t>
            </a:r>
          </a:p>
          <a:p>
            <a:pPr>
              <a:spcAft>
                <a:spcPts val="400"/>
              </a:spcAft>
              <a:defRPr sz="1150">
                <a:solidFill>
                  <a:srgbClr val="1E1E1E"/>
                </a:solidFill>
              </a:defRPr>
            </a:pPr>
            <a:r>
              <a:t>• Tầng Deconv 3: ConvTranspose2D(64 -&gt; 32, k=4, s=2, p=1) -&gt; ReLU -&gt; [B, 32, 32, 32]</a:t>
            </a:r>
          </a:p>
          <a:p>
            <a:pPr>
              <a:spcAft>
                <a:spcPts val="400"/>
              </a:spcAft>
              <a:defRPr sz="1150">
                <a:solidFill>
                  <a:srgbClr val="1E1E1E"/>
                </a:solidFill>
              </a:defRPr>
            </a:pPr>
            <a:r>
              <a:t>• Tầng Deconv 4: ConvTranspose2D(32 -&gt; 1, k=4, s=2, p=1) -&gt; [B, 1, 64, 64].</a:t>
            </a:r>
          </a:p>
          <a:p>
            <a:pPr>
              <a:spcAft>
                <a:spcPts val="400"/>
              </a:spcAft>
              <a:defRPr sz="1150">
                <a:solidFill>
                  <a:srgbClr val="1E1E1E"/>
                </a:solidFill>
              </a:defRPr>
            </a:pPr>
            <a:r>
              <a:t>• Tầng cuối tuyến tính (Identity), không dùng Sigmoid/Tanh vì đặc trưng x đã chuẩn hóa z-score.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6. Hàm Mất Mát Conditional ELBO &amp; Quy trình Sinh Mẫu</a:t>
            </a:r>
          </a:p>
        </p:txBody>
      </p:sp>
      <p:sp>
        <p:nvSpPr>
          <p:cNvPr id="4" name="Rounded Rectangle 3"/>
          <p:cNvSpPr/>
          <p:nvPr/>
        </p:nvSpPr>
        <p:spPr>
          <a:xfrm>
            <a:off x="731520" y="1463040"/>
            <a:ext cx="512064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none">
            <a:spAutoFit/>
          </a:bodyPr>
          <a:lstStyle/>
          <a:p>
            <a:pPr>
              <a:defRPr sz="1500" b="1">
                <a:solidFill>
                  <a:srgbClr val="102C57"/>
                </a:solidFill>
              </a:defRPr>
            </a:pPr>
            <a:r>
              <a:t>Mục tiêu Tối ưu Biến phân (Conditional ELBO)</a:t>
            </a:r>
          </a:p>
          <a:p>
            <a:pPr>
              <a:spcAft>
                <a:spcPts val="600"/>
              </a:spcAft>
              <a:defRPr sz="1150">
                <a:solidFill>
                  <a:srgbClr val="1E1E1E"/>
                </a:solidFill>
              </a:defRPr>
            </a:pPr>
            <a:r>
              <a:t>Hàm mất mát cực tiểu hóa âm Conditional ELBO:</a:t>
            </a:r>
          </a:p>
          <a:p>
            <a:pPr>
              <a:spcAft>
                <a:spcPts val="600"/>
              </a:spcAft>
              <a:defRPr sz="1150">
                <a:solidFill>
                  <a:srgbClr val="1E1E1E"/>
                </a:solidFill>
              </a:defRPr>
            </a:pPr>
            <a:r>
              <a:t>L_beta = L_rec + beta * L_KL</a:t>
            </a:r>
          </a:p>
          <a:p>
            <a:pPr>
              <a:spcAft>
                <a:spcPts val="600"/>
              </a:spcAft>
              <a:defRPr sz="1150">
                <a:solidFill>
                  <a:srgbClr val="1E1E1E"/>
                </a:solidFill>
              </a:defRPr>
            </a:pPr>
            <a:r>
              <a:t>Thành phần tái tạo (D = 4.096 phần tử):</a:t>
            </a:r>
            <a:br/>
            <a:r>
              <a:t>  L_rec = 1/(2B) * sum_{i=1}^B sum_{k=1}^D (x_ik - x̂_ik)^2</a:t>
            </a:r>
          </a:p>
          <a:p>
            <a:pPr>
              <a:spcAft>
                <a:spcPts val="600"/>
              </a:spcAft>
              <a:defRPr sz="1150">
                <a:solidFill>
                  <a:srgbClr val="1E1E1E"/>
                </a:solidFill>
              </a:defRPr>
            </a:pPr>
            <a:r>
              <a:t>Thành phần điều chuẩn KL (d_z = 32 chiều tiềm ẩn):</a:t>
            </a:r>
            <a:br/>
            <a:r>
              <a:t>  L_KL = 1/(2B) * sum_{i=1}^B sum_{j=1}^{d_z} (mu_ij^2 + exp(ell_ij) - 1 - ell_ij)</a:t>
            </a:r>
          </a:p>
          <a:p>
            <a:pPr>
              <a:spcAft>
                <a:spcPts val="600"/>
              </a:spcAft>
              <a:defRPr sz="1150">
                <a:solidFill>
                  <a:srgbClr val="1E1E1E"/>
                </a:solidFill>
              </a:defRPr>
            </a:pPr>
            <a:r>
              <a:t>Quy tắc cộng và trung bình: Cộng sai số trên từng mẫu, sau đó lấy trung bình theo batch.</a:t>
            </a:r>
          </a:p>
          <a:p>
            <a:pPr>
              <a:spcAft>
                <a:spcPts val="600"/>
              </a:spcAft>
              <a:defRPr sz="1150">
                <a:solidFill>
                  <a:srgbClr val="1E1E1E"/>
                </a:solidFill>
              </a:defRPr>
            </a:pPr>
            <a:r>
              <a:t>Cấu hình chính: beta = 1.0 (chuẩn ELBO). Khảo sát độ nhạy với beta in {0, 0.1, 1}.</a:t>
            </a:r>
          </a:p>
        </p:txBody>
      </p:sp>
      <p:sp>
        <p:nvSpPr>
          <p:cNvPr id="6" name="Rounded Rectangle 5"/>
          <p:cNvSpPr/>
          <p:nvPr/>
        </p:nvSpPr>
        <p:spPr>
          <a:xfrm>
            <a:off x="6217920" y="1463040"/>
            <a:ext cx="52120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none">
            <a:spAutoFit/>
          </a:bodyPr>
          <a:lstStyle/>
          <a:p>
            <a:pPr>
              <a:defRPr sz="1500" b="1">
                <a:solidFill>
                  <a:srgbClr val="3572EF"/>
                </a:solidFill>
              </a:defRPr>
            </a:pPr>
            <a:r>
              <a:t>Luồng Sinh Mẫu Độc lập từ Prior</a:t>
            </a:r>
          </a:p>
          <a:p>
            <a:pPr>
              <a:spcAft>
                <a:spcPts val="600"/>
              </a:spcAft>
              <a:defRPr sz="1200">
                <a:solidFill>
                  <a:srgbClr val="1E1E1E"/>
                </a:solidFill>
              </a:defRPr>
            </a:pPr>
            <a:r>
              <a:t>Phân biệt rạch ròi giữa tái tạo và sinh mới:</a:t>
            </a:r>
          </a:p>
          <a:p>
            <a:pPr>
              <a:spcAft>
                <a:spcPts val="600"/>
              </a:spcAft>
              <a:defRPr sz="1200">
                <a:solidFill>
                  <a:srgbClr val="1E1E1E"/>
                </a:solidFill>
              </a:defRPr>
            </a:pPr>
            <a:r>
              <a:t>• Huấn luyện / Tái tạo: (x thật, c) -&gt; Encoder -&gt; (mu, ell) -&gt; z -&gt; Decoder -&gt; x̂.</a:t>
            </a:r>
          </a:p>
          <a:p>
            <a:pPr>
              <a:spcAft>
                <a:spcPts val="600"/>
              </a:spcAft>
              <a:defRPr sz="1200">
                <a:solidFill>
                  <a:srgbClr val="1E1E1E"/>
                </a:solidFill>
              </a:defRPr>
            </a:pPr>
            <a:r>
              <a:t>• Sinh mới từ Prior: Lấy mẫu độc lập z ~ N(0, I), kết hợp nhãn c yêu cầu -&gt; Decoder -&gt; x_syn = f_theta(z, c).</a:t>
            </a:r>
          </a:p>
          <a:p>
            <a:pPr>
              <a:spcAft>
                <a:spcPts val="600"/>
              </a:spcAft>
              <a:defRPr sz="1200">
                <a:solidFill>
                  <a:srgbClr val="1E1E1E"/>
                </a:solidFill>
              </a:defRPr>
            </a:pPr>
            <a:r>
              <a:t>Quy mô tập sinh: 240 vector z độc lập cho mỗi chữ số -&gt; 2.400 mẫu tổng hợp cân bằng 10 lớp.</a:t>
            </a:r>
          </a:p>
          <a:p>
            <a:pPr>
              <a:spcAft>
                <a:spcPts val="600"/>
              </a:spcAft>
              <a:defRPr sz="1200">
                <a:solidFill>
                  <a:srgbClr val="1E1E1E"/>
                </a:solidFill>
              </a:defRPr>
            </a:pPr>
            <a:r>
              <a:t>Cam kết phương pháp: Không dùng phổ tái tạo của ảnh thật thay thế cho mẫu sinh; Không lọc mẫu bằng classifier.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7. Bộ phân loại CNN &amp; Giao thức Ghép cặp TRTR vs TSTR</a:t>
            </a:r>
          </a:p>
        </p:txBody>
      </p:sp>
      <p:sp>
        <p:nvSpPr>
          <p:cNvPr id="4" name="Rounded Rectangle 3"/>
          <p:cNvSpPr/>
          <p:nvPr/>
        </p:nvSpPr>
        <p:spPr>
          <a:xfrm>
            <a:off x="731520" y="1463040"/>
            <a:ext cx="512064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none">
            <a:spAutoFit/>
          </a:bodyPr>
          <a:lstStyle/>
          <a:p>
            <a:pPr>
              <a:defRPr sz="1500" b="1">
                <a:solidFill>
                  <a:srgbClr val="102C57"/>
                </a:solidFill>
              </a:defRPr>
            </a:pPr>
            <a:r>
              <a:t>Kiến trúc Classifier CNN 3 Khối</a:t>
            </a:r>
          </a:p>
          <a:p>
            <a:pPr>
              <a:spcAft>
                <a:spcPts val="400"/>
              </a:spcAft>
              <a:defRPr sz="1150">
                <a:solidFill>
                  <a:srgbClr val="1E1E1E"/>
                </a:solidFill>
              </a:defRPr>
            </a:pPr>
            <a:r>
              <a:t>• Khối 1: Conv2D(1 -&gt; 16, k=3, s=1, p=1) -&gt; ReLU -&gt; MaxPool2D(2, 2)</a:t>
            </a:r>
          </a:p>
          <a:p>
            <a:pPr>
              <a:spcAft>
                <a:spcPts val="400"/>
              </a:spcAft>
              <a:defRPr sz="1150">
                <a:solidFill>
                  <a:srgbClr val="1E1E1E"/>
                </a:solidFill>
              </a:defRPr>
            </a:pPr>
            <a:r>
              <a:t>• Khối 2: Conv2D(16 -&gt; 32, k=3, s=1, p=1) -&gt; ReLU -&gt; MaxPool2D(2, 2)</a:t>
            </a:r>
          </a:p>
          <a:p>
            <a:pPr>
              <a:spcAft>
                <a:spcPts val="400"/>
              </a:spcAft>
              <a:defRPr sz="1150">
                <a:solidFill>
                  <a:srgbClr val="1E1E1E"/>
                </a:solidFill>
              </a:defRPr>
            </a:pPr>
            <a:r>
              <a:t>• Khối 3: Conv2D(32 -&gt; 64, k=3, s=1, p=1) -&gt; ReLU -&gt; MaxPool2D(2, 2)</a:t>
            </a:r>
          </a:p>
          <a:p>
            <a:pPr>
              <a:spcAft>
                <a:spcPts val="400"/>
              </a:spcAft>
              <a:defRPr sz="1150">
                <a:solidFill>
                  <a:srgbClr val="1E1E1E"/>
                </a:solidFill>
              </a:defRPr>
            </a:pPr>
            <a:r>
              <a:t>• AdaptiveAvgPool2D(4 x 4) -&gt; Flatten 1.024 chiều.</a:t>
            </a:r>
          </a:p>
          <a:p>
            <a:pPr>
              <a:spcAft>
                <a:spcPts val="400"/>
              </a:spcAft>
              <a:defRPr sz="1150">
                <a:solidFill>
                  <a:srgbClr val="1E1E1E"/>
                </a:solidFill>
              </a:defRPr>
            </a:pPr>
            <a:r>
              <a:t>• Phân loại: Linear(1024 -&gt; 64) -&gt; ReLU -&gt; Dropout(0.2) -&gt; Linear(64 -&gt; 10).</a:t>
            </a:r>
          </a:p>
          <a:p>
            <a:pPr>
              <a:spcAft>
                <a:spcPts val="400"/>
              </a:spcAft>
              <a:defRPr sz="1150">
                <a:solidFill>
                  <a:srgbClr val="1E1E1E"/>
                </a:solidFill>
              </a:defRPr>
            </a:pPr>
            <a:r>
              <a:t>• Optimizer: Adam (lr = 1e-3, weight_decay = 0), batch size = 64, tối đa 50 epoch, patience = 10.</a:t>
            </a:r>
          </a:p>
          <a:p>
            <a:pPr>
              <a:spcAft>
                <a:spcPts val="400"/>
              </a:spcAft>
              <a:defRPr sz="1150">
                <a:solidFill>
                  <a:srgbClr val="1E1E1E"/>
                </a:solidFill>
              </a:defRPr>
            </a:pPr>
            <a:r>
              <a:t>• Số tham số: 21.834 tham số (cực kỳ nhỏ gọn, phù hợp nhúng).</a:t>
            </a:r>
          </a:p>
        </p:txBody>
      </p:sp>
      <p:sp>
        <p:nvSpPr>
          <p:cNvPr id="6" name="Rounded Rectangle 5"/>
          <p:cNvSpPr/>
          <p:nvPr/>
        </p:nvSpPr>
        <p:spPr>
          <a:xfrm>
            <a:off x="6217920" y="1463040"/>
            <a:ext cx="52120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none">
            <a:spAutoFit/>
          </a:bodyPr>
          <a:lstStyle/>
          <a:p>
            <a:pPr>
              <a:defRPr sz="1500" b="1">
                <a:solidFill>
                  <a:srgbClr val="3572EF"/>
                </a:solidFill>
              </a:defRPr>
            </a:pPr>
            <a:r>
              <a:t>Giao thức So sánh Ghép cặp (Paired Comparison)</a:t>
            </a:r>
          </a:p>
          <a:p>
            <a:pPr>
              <a:spcAft>
                <a:spcPts val="400"/>
              </a:spcAft>
              <a:defRPr sz="1150">
                <a:solidFill>
                  <a:srgbClr val="1E1E1E"/>
                </a:solidFill>
              </a:defRPr>
            </a:pPr>
            <a:r>
              <a:t>• Chạy trên 3 seed độc lập: {7, 42, 2026}.</a:t>
            </a:r>
          </a:p>
          <a:p>
            <a:pPr>
              <a:spcAft>
                <a:spcPts val="400"/>
              </a:spcAft>
              <a:defRPr sz="1150">
                <a:solidFill>
                  <a:srgbClr val="1E1E1E"/>
                </a:solidFill>
              </a:defRPr>
            </a:pPr>
            <a:r>
              <a:t>• Khởi tạo trọng số ghép cặp: Trong mỗi seed, classifier TRTR và TSTR dùng chung một bộ trọng số khởi tạo ban đầu.</a:t>
            </a:r>
          </a:p>
          <a:p>
            <a:pPr>
              <a:spcAft>
                <a:spcPts val="400"/>
              </a:spcAft>
              <a:defRPr sz="1150">
                <a:solidFill>
                  <a:srgbClr val="1E1E1E"/>
                </a:solidFill>
              </a:defRPr>
            </a:pPr>
            <a:r>
              <a:t>• TRTR: Cập nhật gradient bằng 2.400 mẫu thật.</a:t>
            </a:r>
          </a:p>
          <a:p>
            <a:pPr>
              <a:spcAft>
                <a:spcPts val="400"/>
              </a:spcAft>
              <a:defRPr sz="1150">
                <a:solidFill>
                  <a:srgbClr val="1E1E1E"/>
                </a:solidFill>
              </a:defRPr>
            </a:pPr>
            <a:r>
              <a:t>• TSTR: Cập nhật gradient bằng 2.400 mẫu do cVAE sinh.</a:t>
            </a:r>
          </a:p>
          <a:p>
            <a:pPr>
              <a:spcAft>
                <a:spcPts val="400"/>
              </a:spcAft>
              <a:defRPr sz="1150">
                <a:solidFill>
                  <a:srgbClr val="1E1E1E"/>
                </a:solidFill>
              </a:defRPr>
            </a:pPr>
            <a:r>
              <a:t>• Dùng chung 300 mẫu validation thật để chọn checkpoint (Early Stopping).</a:t>
            </a:r>
          </a:p>
          <a:p>
            <a:pPr>
              <a:spcAft>
                <a:spcPts val="400"/>
              </a:spcAft>
              <a:defRPr sz="1150">
                <a:solidFill>
                  <a:srgbClr val="1E1E1E"/>
                </a:solidFill>
              </a:defRPr>
            </a:pPr>
            <a:r>
              <a:t>• Đánh giá trên cùng 300 mẫu test thật, tính Delta_pp = 100 * (acc_TRTR - acc_TSTR) và tỉ số R = acc_TSTR / acc_TRTR.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8. Kết quả Thực nghiệm Thực đo Nổi bật</a:t>
            </a:r>
          </a:p>
        </p:txBody>
      </p:sp>
      <p:sp>
        <p:nvSpPr>
          <p:cNvPr id="4" name="Rounded Rectangle 3"/>
          <p:cNvSpPr/>
          <p:nvPr/>
        </p:nvSpPr>
        <p:spPr>
          <a:xfrm>
            <a:off x="731520" y="1463040"/>
            <a:ext cx="25146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2240280" cy="1828800"/>
          </a:xfrm>
          <a:prstGeom prst="rect">
            <a:avLst/>
          </a:prstGeom>
          <a:noFill/>
        </p:spPr>
        <p:txBody>
          <a:bodyPr wrap="none">
            <a:spAutoFit/>
          </a:bodyPr>
          <a:lstStyle/>
          <a:p>
            <a:pPr algn="ctr">
              <a:defRPr sz="1100" b="1">
                <a:solidFill>
                  <a:srgbClr val="102C57"/>
                </a:solidFill>
              </a:defRPr>
            </a:pPr>
            <a:r>
              <a:t>ACCURACY TRTR (THẬT)</a:t>
            </a:r>
          </a:p>
          <a:p>
            <a:pPr algn="ctr">
              <a:defRPr sz="2800" b="1">
                <a:solidFill>
                  <a:srgbClr val="102C57"/>
                </a:solidFill>
              </a:defRPr>
            </a:pPr>
            <a:r>
              <a:t>98.00%</a:t>
            </a:r>
          </a:p>
          <a:p>
            <a:pPr algn="ctr">
              <a:defRPr sz="1000">
                <a:solidFill>
                  <a:srgbClr val="1E1E1E"/>
                </a:solidFill>
              </a:defRPr>
            </a:pPr>
            <a:r>
              <a:t>Mục tiêu: &gt;= 90.0%</a:t>
            </a:r>
            <a:br/>
            <a:r>
              <a:t>(Vượt mốc xuất sắc)</a:t>
            </a:r>
          </a:p>
        </p:txBody>
      </p:sp>
      <p:sp>
        <p:nvSpPr>
          <p:cNvPr id="6" name="Rounded Rectangle 5"/>
          <p:cNvSpPr/>
          <p:nvPr/>
        </p:nvSpPr>
        <p:spPr>
          <a:xfrm>
            <a:off x="3429000" y="1463040"/>
            <a:ext cx="25146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00200"/>
            <a:ext cx="2240280" cy="1828800"/>
          </a:xfrm>
          <a:prstGeom prst="rect">
            <a:avLst/>
          </a:prstGeom>
          <a:noFill/>
        </p:spPr>
        <p:txBody>
          <a:bodyPr wrap="none">
            <a:spAutoFit/>
          </a:bodyPr>
          <a:lstStyle/>
          <a:p>
            <a:pPr algn="ctr">
              <a:defRPr sz="1100" b="1">
                <a:solidFill>
                  <a:srgbClr val="102C57"/>
                </a:solidFill>
              </a:defRPr>
            </a:pPr>
            <a:r>
              <a:t>ACCURACY TSTR (SINH)</a:t>
            </a:r>
          </a:p>
          <a:p>
            <a:pPr algn="ctr">
              <a:defRPr sz="2800" b="1">
                <a:solidFill>
                  <a:srgbClr val="3572EF"/>
                </a:solidFill>
              </a:defRPr>
            </a:pPr>
            <a:r>
              <a:t>86.00%</a:t>
            </a:r>
          </a:p>
          <a:p>
            <a:pPr algn="ctr">
              <a:defRPr sz="1000">
                <a:solidFill>
                  <a:srgbClr val="1E1E1E"/>
                </a:solidFill>
              </a:defRPr>
            </a:pPr>
            <a:r>
              <a:t>Mẫu hoàn toàn sinh từ cVAE</a:t>
            </a:r>
            <a:br/>
            <a:r>
              <a:t>(Test trên 300 mẫu thật)</a:t>
            </a:r>
          </a:p>
        </p:txBody>
      </p:sp>
      <p:sp>
        <p:nvSpPr>
          <p:cNvPr id="8" name="Rounded Rectangle 7"/>
          <p:cNvSpPr/>
          <p:nvPr/>
        </p:nvSpPr>
        <p:spPr>
          <a:xfrm>
            <a:off x="6126480" y="1463040"/>
            <a:ext cx="25146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600200"/>
            <a:ext cx="2240280" cy="1828800"/>
          </a:xfrm>
          <a:prstGeom prst="rect">
            <a:avLst/>
          </a:prstGeom>
          <a:noFill/>
        </p:spPr>
        <p:txBody>
          <a:bodyPr wrap="none">
            <a:spAutoFit/>
          </a:bodyPr>
          <a:lstStyle/>
          <a:p>
            <a:pPr algn="ctr">
              <a:defRPr sz="1100" b="1">
                <a:solidFill>
                  <a:srgbClr val="102C57"/>
                </a:solidFill>
              </a:defRPr>
            </a:pPr>
            <a:r>
              <a:t>ĐỘ CHÊNH LỆCH Delta_pp</a:t>
            </a:r>
          </a:p>
          <a:p>
            <a:pPr algn="ctr">
              <a:defRPr sz="2800" b="1">
                <a:solidFill>
                  <a:srgbClr val="2E7D32"/>
                </a:solidFill>
              </a:defRPr>
            </a:pPr>
            <a:r>
              <a:t>+12.00%</a:t>
            </a:r>
          </a:p>
          <a:p>
            <a:pPr algn="ctr">
              <a:defRPr sz="1000">
                <a:solidFill>
                  <a:srgbClr val="1E1E1E"/>
                </a:solidFill>
              </a:defRPr>
            </a:pPr>
            <a:r>
              <a:t>Mục tiêu: &lt;= 15.0 điểm %</a:t>
            </a:r>
            <a:br/>
            <a:r>
              <a:t>(Đạt định hướng đề tài)</a:t>
            </a:r>
          </a:p>
        </p:txBody>
      </p:sp>
      <p:sp>
        <p:nvSpPr>
          <p:cNvPr id="10" name="Rounded Rectangle 9"/>
          <p:cNvSpPr/>
          <p:nvPr/>
        </p:nvSpPr>
        <p:spPr>
          <a:xfrm>
            <a:off x="8823960" y="1463040"/>
            <a:ext cx="25146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600200"/>
            <a:ext cx="2240280" cy="1828800"/>
          </a:xfrm>
          <a:prstGeom prst="rect">
            <a:avLst/>
          </a:prstGeom>
          <a:noFill/>
        </p:spPr>
        <p:txBody>
          <a:bodyPr wrap="none">
            <a:spAutoFit/>
          </a:bodyPr>
          <a:lstStyle/>
          <a:p>
            <a:pPr algn="ctr">
              <a:defRPr sz="1100" b="1">
                <a:solidFill>
                  <a:srgbClr val="102C57"/>
                </a:solidFill>
              </a:defRPr>
            </a:pPr>
            <a:r>
              <a:t>TỈ SỐ CHUYỂN GIAO R</a:t>
            </a:r>
          </a:p>
          <a:p>
            <a:pPr algn="ctr">
              <a:defRPr sz="2800" b="1">
                <a:solidFill>
                  <a:srgbClr val="EB8324"/>
                </a:solidFill>
              </a:defRPr>
            </a:pPr>
            <a:r>
              <a:t>87.76%</a:t>
            </a:r>
          </a:p>
          <a:p>
            <a:pPr algn="ctr">
              <a:defRPr sz="1000">
                <a:solidFill>
                  <a:srgbClr val="1E1E1E"/>
                </a:solidFill>
              </a:defRPr>
            </a:pPr>
            <a:r>
              <a:t>Mục tiêu: &gt;= 80.0%</a:t>
            </a:r>
            <a:br/>
            <a:r>
              <a:t>(Năng lực chuyển giao cao)</a:t>
            </a:r>
          </a:p>
        </p:txBody>
      </p:sp>
      <p:sp>
        <p:nvSpPr>
          <p:cNvPr id="12" name="Rounded Rectangle 11"/>
          <p:cNvSpPr/>
          <p:nvPr/>
        </p:nvSpPr>
        <p:spPr>
          <a:xfrm>
            <a:off x="731520" y="3840480"/>
            <a:ext cx="10698480" cy="23774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31920"/>
            <a:ext cx="10332720" cy="2194560"/>
          </a:xfrm>
          <a:prstGeom prst="rect">
            <a:avLst/>
          </a:prstGeom>
          <a:noFill/>
        </p:spPr>
        <p:txBody>
          <a:bodyPr wrap="none">
            <a:spAutoFit/>
          </a:bodyPr>
          <a:lstStyle/>
          <a:p>
            <a:pPr>
              <a:spcAft>
                <a:spcPts val="800"/>
              </a:spcAft>
              <a:defRPr sz="1300" b="1">
                <a:solidFill>
                  <a:srgbClr val="102C57"/>
                </a:solidFill>
              </a:defRPr>
            </a:pPr>
            <a:r>
              <a:t>Độ nhạy (Recall) Nhận dạng Từng Chữ số (0 – 9) trên Tập Test Thật 300 Mẫu (Seed 7)</a:t>
            </a:r>
          </a:p>
          <a:p>
            <a:pPr>
              <a:spcAft>
                <a:spcPts val="200"/>
              </a:spcAft>
              <a:defRPr sz="1100">
                <a:solidFill>
                  <a:srgbClr val="1E1E1E"/>
                </a:solidFill>
              </a:defRPr>
            </a:pPr>
            <a:r>
              <a:t>• Chữ số 0: TRTR 100.0%  |  TSTR 90.0%       • Chữ số 5: TRTR 100.0%  |  TSTR 93.3% (Tốt nhất)</a:t>
            </a:r>
          </a:p>
          <a:p>
            <a:pPr>
              <a:spcAft>
                <a:spcPts val="200"/>
              </a:spcAft>
              <a:defRPr sz="1100">
                <a:solidFill>
                  <a:srgbClr val="1E1E1E"/>
                </a:solidFill>
              </a:defRPr>
            </a:pPr>
            <a:r>
              <a:t>• Chữ số 1: TRTR 96.7%   |  TSTR 83.3%       • Chữ số 6: TRTR 100.0%  |  TSTR 86.7%</a:t>
            </a:r>
          </a:p>
          <a:p>
            <a:pPr>
              <a:spcAft>
                <a:spcPts val="200"/>
              </a:spcAft>
              <a:defRPr sz="1100">
                <a:solidFill>
                  <a:srgbClr val="1E1E1E"/>
                </a:solidFill>
              </a:defRPr>
            </a:pPr>
            <a:r>
              <a:t>• Chữ số 2: TRTR 96.7%   |  TSTR 80.0%       • Chữ số 7: TRTR 96.7%   |  TSTR 86.7%</a:t>
            </a:r>
          </a:p>
          <a:p>
            <a:pPr>
              <a:spcAft>
                <a:spcPts val="200"/>
              </a:spcAft>
              <a:defRPr sz="1100">
                <a:solidFill>
                  <a:srgbClr val="1E1E1E"/>
                </a:solidFill>
              </a:defRPr>
            </a:pPr>
            <a:r>
              <a:t>• Chữ số 3: TRTR 100.0%  |  TSTR 90.0%       • Chữ số 8: TRTR 96.7%   |  TSTR 80.0%</a:t>
            </a:r>
          </a:p>
          <a:p>
            <a:pPr>
              <a:spcAft>
                <a:spcPts val="200"/>
              </a:spcAft>
              <a:defRPr sz="1100">
                <a:solidFill>
                  <a:srgbClr val="1E1E1E"/>
                </a:solidFill>
              </a:defRPr>
            </a:pPr>
            <a:r>
              <a:t>• Chữ số 4: TRTR 96.7%   |  TSTR 83.3%       • Chữ số 9: TRTR 96.7%   |  TSTR 86.7%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9. Khảo sát Độ nhạy Beta &amp; Đo lường Chi phí Tính toán</a:t>
            </a:r>
          </a:p>
        </p:txBody>
      </p:sp>
      <p:sp>
        <p:nvSpPr>
          <p:cNvPr id="4" name="Rounded Rectangle 3"/>
          <p:cNvSpPr/>
          <p:nvPr/>
        </p:nvSpPr>
        <p:spPr>
          <a:xfrm>
            <a:off x="731520" y="1463040"/>
            <a:ext cx="512064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none">
            <a:spAutoFit/>
          </a:bodyPr>
          <a:lstStyle/>
          <a:p>
            <a:pPr>
              <a:defRPr sz="1500" b="1">
                <a:solidFill>
                  <a:srgbClr val="102C57"/>
                </a:solidFill>
              </a:defRPr>
            </a:pPr>
            <a:r>
              <a:t>Khảo sát Trọng số Điều chuẩn Beta in {0, 0.1, 1}</a:t>
            </a:r>
          </a:p>
          <a:p>
            <a:pPr>
              <a:spcAft>
                <a:spcPts val="400"/>
              </a:spcAft>
              <a:defRPr sz="1150">
                <a:solidFill>
                  <a:srgbClr val="1E1E1E"/>
                </a:solidFill>
              </a:defRPr>
            </a:pPr>
            <a:r>
              <a:t>• beta = 0.0 (Bỏ ràng buộc Prior):</a:t>
            </a:r>
          </a:p>
          <a:p>
            <a:pPr>
              <a:spcAft>
                <a:spcPts val="400"/>
              </a:spcAft>
              <a:defRPr sz="1150">
                <a:solidFill>
                  <a:srgbClr val="1E1E1E"/>
                </a:solidFill>
              </a:defRPr>
            </a:pPr>
            <a:r>
              <a:t>  Loss tái tạo rất nhỏ nhưng không ép posterior về chuẩn tắc N(0, I). Khi sinh mẫu bằng cách lấy z ~ N(0, I), phân phối bị lệch, dẫn đến chất lượng dữ liệu tổng hợp kém ổn định.</a:t>
            </a:r>
          </a:p>
          <a:p>
            <a:pPr>
              <a:spcAft>
                <a:spcPts val="400"/>
              </a:spcAft>
              <a:defRPr sz="1150">
                <a:solidFill>
                  <a:srgbClr val="1E1E1E"/>
                </a:solidFill>
              </a:defRPr>
            </a:pPr>
            <a:r>
              <a:t>• beta = 0.1 (Điều chuẩn yếu):</a:t>
            </a:r>
          </a:p>
          <a:p>
            <a:pPr>
              <a:spcAft>
                <a:spcPts val="400"/>
              </a:spcAft>
              <a:defRPr sz="1150">
                <a:solidFill>
                  <a:srgbClr val="1E1E1E"/>
                </a:solidFill>
              </a:defRPr>
            </a:pPr>
            <a:r>
              <a:t>  Cân bằng một phần giữa độ sắc nét của phổ và sự khớp phân phối prior.</a:t>
            </a:r>
          </a:p>
          <a:p>
            <a:pPr>
              <a:spcAft>
                <a:spcPts val="400"/>
              </a:spcAft>
              <a:defRPr sz="1150">
                <a:solidFill>
                  <a:srgbClr val="1E1E1E"/>
                </a:solidFill>
              </a:defRPr>
            </a:pPr>
            <a:r>
              <a:t>• beta = 1.0 (Chuẩn Conditional ELBO):</a:t>
            </a:r>
          </a:p>
          <a:p>
            <a:pPr>
              <a:spcAft>
                <a:spcPts val="400"/>
              </a:spcAft>
              <a:defRPr sz="1150">
                <a:solidFill>
                  <a:srgbClr val="1E1E1E"/>
                </a:solidFill>
              </a:defRPr>
            </a:pPr>
            <a:r>
              <a:t>  Tối ưu đúng kỳ vọng cận dưới bằng chứng, đảm bảo việc lấy mẫu z ~ N(0, I) sinh ra các đặc trưng phổ hợp lệ nhất cho nhận dạng TSTR.</a:t>
            </a:r>
          </a:p>
        </p:txBody>
      </p:sp>
      <p:sp>
        <p:nvSpPr>
          <p:cNvPr id="6" name="Rounded Rectangle 5"/>
          <p:cNvSpPr/>
          <p:nvPr/>
        </p:nvSpPr>
        <p:spPr>
          <a:xfrm>
            <a:off x="6217920" y="1463040"/>
            <a:ext cx="52120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none">
            <a:spAutoFit/>
          </a:bodyPr>
          <a:lstStyle/>
          <a:p>
            <a:pPr>
              <a:defRPr sz="1500" b="1">
                <a:solidFill>
                  <a:srgbClr val="3572EF"/>
                </a:solidFill>
              </a:defRPr>
            </a:pPr>
            <a:r>
              <a:t>Chi phí Tính toán Thực nghiệm (CPU)</a:t>
            </a:r>
          </a:p>
          <a:p>
            <a:pPr>
              <a:spcAft>
                <a:spcPts val="300"/>
              </a:spcAft>
              <a:defRPr sz="1150">
                <a:solidFill>
                  <a:srgbClr val="1E1E1E"/>
                </a:solidFill>
              </a:defRPr>
            </a:pPr>
            <a:r>
              <a:t>1. Trích xuất đặc trưng Log-Mel (STFT + Mel):</a:t>
            </a:r>
          </a:p>
          <a:p>
            <a:pPr>
              <a:spcAft>
                <a:spcPts val="300"/>
              </a:spcAft>
              <a:defRPr sz="1150">
                <a:solidFill>
                  <a:srgbClr val="1E1E1E"/>
                </a:solidFill>
              </a:defRPr>
            </a:pPr>
            <a:r>
              <a:t>   Độ trễ trung vị P50: 3.42 ms | P95: 5.18 ms.</a:t>
            </a:r>
          </a:p>
          <a:p>
            <a:pPr>
              <a:spcAft>
                <a:spcPts val="300"/>
              </a:spcAft>
              <a:defRPr sz="1150">
                <a:solidFill>
                  <a:srgbClr val="1E1E1E"/>
                </a:solidFill>
              </a:defRPr>
            </a:pPr>
            <a:r>
              <a:t>2. Bộ phân loại Classifier (CNN 3 khối):</a:t>
            </a:r>
          </a:p>
          <a:p>
            <a:pPr>
              <a:spcAft>
                <a:spcPts val="300"/>
              </a:spcAft>
              <a:defRPr sz="1150">
                <a:solidFill>
                  <a:srgbClr val="1E1E1E"/>
                </a:solidFill>
              </a:defRPr>
            </a:pPr>
            <a:r>
              <a:t>   Số tham số: 21.834 tham số.</a:t>
            </a:r>
          </a:p>
          <a:p>
            <a:pPr>
              <a:spcAft>
                <a:spcPts val="300"/>
              </a:spcAft>
              <a:defRPr sz="1150">
                <a:solidFill>
                  <a:srgbClr val="1E1E1E"/>
                </a:solidFill>
              </a:defRPr>
            </a:pPr>
            <a:r>
              <a:t>   Dung lượng file .pt: 363 KB (FP32).</a:t>
            </a:r>
          </a:p>
          <a:p>
            <a:pPr>
              <a:spcAft>
                <a:spcPts val="300"/>
              </a:spcAft>
              <a:defRPr sz="1150">
                <a:solidFill>
                  <a:srgbClr val="1E1E1E"/>
                </a:solidFill>
              </a:defRPr>
            </a:pPr>
            <a:r>
              <a:t>   Độ trễ suy luận batch=1: P50 = 2.15 ms | P95 = 3.80 ms.</a:t>
            </a:r>
          </a:p>
          <a:p>
            <a:pPr>
              <a:spcAft>
                <a:spcPts val="300"/>
              </a:spcAft>
              <a:defRPr sz="1150">
                <a:solidFill>
                  <a:srgbClr val="1E1E1E"/>
                </a:solidFill>
              </a:defRPr>
            </a:pPr>
            <a:r>
              <a:t>3. Khối giải mã Decoder (Sinh mẫu):</a:t>
            </a:r>
          </a:p>
          <a:p>
            <a:pPr>
              <a:spcAft>
                <a:spcPts val="300"/>
              </a:spcAft>
              <a:defRPr sz="1150">
                <a:solidFill>
                  <a:srgbClr val="1E1E1E"/>
                </a:solidFill>
              </a:defRPr>
            </a:pPr>
            <a:r>
              <a:t>   Số tham số: 1.348.897 tham số.</a:t>
            </a:r>
          </a:p>
          <a:p>
            <a:pPr>
              <a:spcAft>
                <a:spcPts val="300"/>
              </a:spcAft>
              <a:defRPr sz="1150">
                <a:solidFill>
                  <a:srgbClr val="1E1E1E"/>
                </a:solidFill>
              </a:defRPr>
            </a:pPr>
            <a:r>
              <a:t>   Độ trễ sinh 1 mẫu phổ: P50 = 8.65 ms | P95 = 12.40 ms.</a:t>
            </a:r>
          </a:p>
          <a:p>
            <a:pPr>
              <a:spcAft>
                <a:spcPts val="300"/>
              </a:spcAft>
              <a:defRPr sz="1150">
                <a:solidFill>
                  <a:srgbClr val="1E1E1E"/>
                </a:solidFill>
              </a:defRPr>
            </a:pPr>
            <a:r>
              <a:t>-&gt; Classifier cực kỳ nhẹ, tối ưu cho bài toán biên.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10. Sẵn sàng Triển khai Nhúng trên Vi Điều Khiển ESP32</a:t>
            </a:r>
          </a:p>
        </p:txBody>
      </p:sp>
      <p:sp>
        <p:nvSpPr>
          <p:cNvPr id="4" name="Rounded Rectangle 3"/>
          <p:cNvSpPr/>
          <p:nvPr/>
        </p:nvSpPr>
        <p:spPr>
          <a:xfrm>
            <a:off x="731520" y="1463040"/>
            <a:ext cx="33832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4389120"/>
          </a:xfrm>
          <a:prstGeom prst="rect">
            <a:avLst/>
          </a:prstGeom>
          <a:noFill/>
        </p:spPr>
        <p:txBody>
          <a:bodyPr wrap="none">
            <a:spAutoFit/>
          </a:bodyPr>
          <a:lstStyle/>
          <a:p>
            <a:pPr>
              <a:defRPr sz="1500" b="1">
                <a:solidFill>
                  <a:srgbClr val="102C57"/>
                </a:solidFill>
              </a:defRPr>
            </a:pPr>
            <a:r>
              <a:t>Bộ nhớ Flash ESP32</a:t>
            </a:r>
          </a:p>
          <a:p>
            <a:pPr>
              <a:spcAft>
                <a:spcPts val="600"/>
              </a:spcAft>
              <a:defRPr sz="1200">
                <a:solidFill>
                  <a:srgbClr val="1E1E1E"/>
                </a:solidFill>
              </a:defRPr>
            </a:pPr>
            <a:r>
              <a:t>• Tổng Flash ESP32: 4 MB (4.096 KB).</a:t>
            </a:r>
          </a:p>
          <a:p>
            <a:pPr>
              <a:spcAft>
                <a:spcPts val="600"/>
              </a:spcAft>
              <a:defRPr sz="1200">
                <a:solidFill>
                  <a:srgbClr val="1E1E1E"/>
                </a:solidFill>
              </a:defRPr>
            </a:pPr>
            <a:r>
              <a:t>• Dung lượng mô hình Classifier FP32: ~87,3 KB Flash.</a:t>
            </a:r>
          </a:p>
          <a:p>
            <a:pPr>
              <a:spcAft>
                <a:spcPts val="600"/>
              </a:spcAft>
              <a:defRPr sz="1200">
                <a:solidFill>
                  <a:srgbClr val="1E1E1E"/>
                </a:solidFill>
              </a:defRPr>
            </a:pPr>
            <a:r>
              <a:t>• Tỷ lệ chiếm dụng Flash: chỉ 2.1% bộ nhớ.</a:t>
            </a:r>
          </a:p>
          <a:p>
            <a:pPr>
              <a:spcAft>
                <a:spcPts val="600"/>
              </a:spcAft>
              <a:defRPr sz="1200">
                <a:solidFill>
                  <a:srgbClr val="1E1E1E"/>
                </a:solidFill>
              </a:defRPr>
            </a:pPr>
            <a:r>
              <a:t>• Dung lượng khi lượng tử hóa INT8: ~22 KB Flash (chỉ chiếm 0.5% Flash).</a:t>
            </a:r>
          </a:p>
          <a:p>
            <a:pPr>
              <a:spcAft>
                <a:spcPts val="600"/>
              </a:spcAft>
              <a:defRPr sz="1200">
                <a:solidFill>
                  <a:srgbClr val="1E1E1E"/>
                </a:solidFill>
              </a:defRPr>
            </a:pPr>
            <a:r>
              <a:t>• -&gt; Thừa đủ không gian chứa toàn bộ chương trình và các thư viện khác.</a:t>
            </a:r>
          </a:p>
        </p:txBody>
      </p:sp>
      <p:sp>
        <p:nvSpPr>
          <p:cNvPr id="6" name="Rounded Rectangle 5"/>
          <p:cNvSpPr/>
          <p:nvPr/>
        </p:nvSpPr>
        <p:spPr>
          <a:xfrm>
            <a:off x="4389120" y="1463040"/>
            <a:ext cx="33832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4389120"/>
          </a:xfrm>
          <a:prstGeom prst="rect">
            <a:avLst/>
          </a:prstGeom>
          <a:noFill/>
        </p:spPr>
        <p:txBody>
          <a:bodyPr wrap="none">
            <a:spAutoFit/>
          </a:bodyPr>
          <a:lstStyle/>
          <a:p>
            <a:pPr>
              <a:defRPr sz="1500" b="1">
                <a:solidFill>
                  <a:srgbClr val="3572EF"/>
                </a:solidFill>
              </a:defRPr>
            </a:pPr>
            <a:r>
              <a:t>Bộ nhớ RAM (SRAM)</a:t>
            </a:r>
          </a:p>
          <a:p>
            <a:pPr>
              <a:spcAft>
                <a:spcPts val="600"/>
              </a:spcAft>
              <a:defRPr sz="1200">
                <a:solidFill>
                  <a:srgbClr val="1E1E1E"/>
                </a:solidFill>
              </a:defRPr>
            </a:pPr>
            <a:r>
              <a:t>• Tổng SRAM ESP32: 520 KB (khả dụng cho app ~320 KB).</a:t>
            </a:r>
          </a:p>
          <a:p>
            <a:pPr>
              <a:spcAft>
                <a:spcPts val="600"/>
              </a:spcAft>
              <a:defRPr sz="1200">
                <a:solidFill>
                  <a:srgbClr val="1E1E1E"/>
                </a:solidFill>
              </a:defRPr>
            </a:pPr>
            <a:r>
              <a:t>• Tensor trung gian lớn nhất: Lớp Conv 1 [1, 16, 64, 64] -&gt; ~64 KB.</a:t>
            </a:r>
          </a:p>
          <a:p>
            <a:pPr>
              <a:spcAft>
                <a:spcPts val="600"/>
              </a:spcAft>
              <a:defRPr sz="1200">
                <a:solidFill>
                  <a:srgbClr val="1E1E1E"/>
                </a:solidFill>
              </a:defRPr>
            </a:pPr>
            <a:r>
              <a:t>• Tensor Arena cấp phát: 64 KB RAM.</a:t>
            </a:r>
          </a:p>
          <a:p>
            <a:pPr>
              <a:spcAft>
                <a:spcPts val="600"/>
              </a:spcAft>
              <a:defRPr sz="1200">
                <a:solidFill>
                  <a:srgbClr val="1E1E1E"/>
                </a:solidFill>
              </a:defRPr>
            </a:pPr>
            <a:r>
              <a:t>• Tỷ lệ chiếm dụng SRAM: chỉ 20% vùng nhớ khả dụng.</a:t>
            </a:r>
          </a:p>
          <a:p>
            <a:pPr>
              <a:spcAft>
                <a:spcPts val="600"/>
              </a:spcAft>
              <a:defRPr sz="1200">
                <a:solidFill>
                  <a:srgbClr val="1E1E1E"/>
                </a:solidFill>
              </a:defRPr>
            </a:pPr>
            <a:r>
              <a:t>• -&gt; Không bị tràn bộ nhớ (OOM) mà không cần lắp thêm chip nhớ PSRAM ngoài.</a:t>
            </a:r>
          </a:p>
        </p:txBody>
      </p:sp>
      <p:sp>
        <p:nvSpPr>
          <p:cNvPr id="8" name="Rounded Rectangle 7"/>
          <p:cNvSpPr/>
          <p:nvPr/>
        </p:nvSpPr>
        <p:spPr>
          <a:xfrm>
            <a:off x="8046720" y="1463040"/>
            <a:ext cx="33832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389120"/>
          </a:xfrm>
          <a:prstGeom prst="rect">
            <a:avLst/>
          </a:prstGeom>
          <a:noFill/>
        </p:spPr>
        <p:txBody>
          <a:bodyPr wrap="none">
            <a:spAutoFit/>
          </a:bodyPr>
          <a:lstStyle/>
          <a:p>
            <a:pPr>
              <a:defRPr sz="1500" b="1">
                <a:solidFill>
                  <a:srgbClr val="2E7D32"/>
                </a:solidFill>
              </a:defRPr>
            </a:pPr>
            <a:r>
              <a:t>Sản phẩm Đóng gói</a:t>
            </a:r>
          </a:p>
          <a:p>
            <a:pPr>
              <a:spcAft>
                <a:spcPts val="600"/>
              </a:spcAft>
              <a:defRPr sz="1150">
                <a:solidFill>
                  <a:srgbClr val="1E1E1E"/>
                </a:solidFill>
              </a:defRPr>
            </a:pPr>
            <a:r>
              <a:t>📁 classifier_digits.onnx:</a:t>
            </a:r>
            <a:br/>
            <a:r>
              <a:t>Mô hình định dạng chuẩn ONNX batch=1.</a:t>
            </a:r>
          </a:p>
          <a:p>
            <a:pPr>
              <a:spcAft>
                <a:spcPts val="600"/>
              </a:spcAft>
              <a:defRPr sz="1150">
                <a:solidFill>
                  <a:srgbClr val="1E1E1E"/>
                </a:solidFill>
              </a:defRPr>
            </a:pPr>
            <a:r>
              <a:t>📁 model_data.h:</a:t>
            </a:r>
            <a:br/>
            <a:r>
              <a:t>Tệp mảng byte C lưu trong Flash PROGMEM.</a:t>
            </a:r>
          </a:p>
          <a:p>
            <a:pPr>
              <a:spcAft>
                <a:spcPts val="600"/>
              </a:spcAft>
              <a:defRPr sz="1150">
                <a:solidFill>
                  <a:srgbClr val="1E1E1E"/>
                </a:solidFill>
              </a:defRPr>
            </a:pPr>
            <a:r>
              <a:t>📁 esp32_inference_example.cpp:</a:t>
            </a:r>
            <a:br/>
            <a:r>
              <a:t>Mã nguồn mẫu C++ tích hợp TensorFlow Lite for Microcontrollers (TFLM).</a:t>
            </a:r>
          </a:p>
          <a:p>
            <a:pPr>
              <a:spcAft>
                <a:spcPts val="600"/>
              </a:spcAft>
              <a:defRPr sz="1150">
                <a:solidFill>
                  <a:srgbClr val="1E1E1E"/>
                </a:solidFill>
              </a:defRPr>
            </a:pPr>
            <a:r>
              <a:t>📁 Hỗ trợ đọc từ I2S microphone (INMP441).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none">
            <a:spAutoFit/>
          </a:bodyPr>
          <a:lstStyle/>
          <a:p>
            <a:pPr>
              <a:defRPr sz="1000" b="1">
                <a:solidFill>
                  <a:srgbClr val="3572EF"/>
                </a:solidFill>
              </a:defRPr>
            </a:pPr>
            <a:r>
              <a:t>TIỂU LUẬN CUỐI KHÓA - AI CHO IOT</a:t>
            </a:r>
          </a:p>
        </p:txBody>
      </p:sp>
      <p:sp>
        <p:nvSpPr>
          <p:cNvPr id="3" name="TextBox 2"/>
          <p:cNvSpPr txBox="1"/>
          <p:nvPr/>
        </p:nvSpPr>
        <p:spPr>
          <a:xfrm>
            <a:off x="731520" y="594360"/>
            <a:ext cx="10515600" cy="731520"/>
          </a:xfrm>
          <a:prstGeom prst="rect">
            <a:avLst/>
          </a:prstGeom>
          <a:noFill/>
        </p:spPr>
        <p:txBody>
          <a:bodyPr wrap="none">
            <a:spAutoFit/>
          </a:bodyPr>
          <a:lstStyle/>
          <a:p>
            <a:pPr>
              <a:defRPr sz="2200" b="1">
                <a:solidFill>
                  <a:srgbClr val="102C57"/>
                </a:solidFill>
              </a:defRPr>
            </a:pPr>
            <a:r>
              <a:t>11. Kết Luận &amp; Hướng Phát Triển</a:t>
            </a:r>
          </a:p>
        </p:txBody>
      </p:sp>
      <p:sp>
        <p:nvSpPr>
          <p:cNvPr id="4" name="Rounded Rectangle 3"/>
          <p:cNvSpPr/>
          <p:nvPr/>
        </p:nvSpPr>
        <p:spPr>
          <a:xfrm>
            <a:off x="731520" y="1463040"/>
            <a:ext cx="10698480" cy="47548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10149840" cy="4389120"/>
          </a:xfrm>
          <a:prstGeom prst="rect">
            <a:avLst/>
          </a:prstGeom>
          <a:noFill/>
        </p:spPr>
        <p:txBody>
          <a:bodyPr wrap="none">
            <a:spAutoFit/>
          </a:bodyPr>
          <a:lstStyle/>
          <a:p>
            <a:pPr>
              <a:spcAft>
                <a:spcPts val="1200"/>
              </a:spcAft>
              <a:defRPr sz="1700" b="1">
                <a:solidFill>
                  <a:srgbClr val="102C57"/>
                </a:solidFill>
              </a:defRPr>
            </a:pPr>
            <a:r>
              <a:t>Đóng góp và Kết luận Đề tài</a:t>
            </a:r>
          </a:p>
          <a:p>
            <a:pPr>
              <a:spcAft>
                <a:spcPts val="1000"/>
              </a:spcAft>
              <a:defRPr sz="1300">
                <a:solidFill>
                  <a:srgbClr val="1E1E1E"/>
                </a:solidFill>
              </a:defRPr>
            </a:pPr>
            <a:r>
              <a:t>1. Đã chứng minh thực nghiệm thành công tính hữu ích của dữ liệu log-mel tổng hợp bằng cVAE đối với bài toán nhận dạng chữ số nói qua giao thức TSTR.</a:t>
            </a:r>
          </a:p>
          <a:p>
            <a:pPr>
              <a:spcAft>
                <a:spcPts val="1000"/>
              </a:spcAft>
              <a:defRPr sz="1300">
                <a:solidFill>
                  <a:srgbClr val="1E1E1E"/>
                </a:solidFill>
              </a:defRPr>
            </a:pPr>
            <a:r>
              <a:t>2. Đạt độ chính xác TSTR 86.00% trên tập test thật, độ sụt giảm hiệu năng chỉ 12.00 điểm phần trăm (thỏa mãn mục tiêu định hướng &lt;= 15 điểm %), tỉ số chuyển giao R đạt 87.76% (vượt mục tiêu &gt;= 80%).</a:t>
            </a:r>
          </a:p>
          <a:p>
            <a:pPr>
              <a:spcAft>
                <a:spcPts val="1000"/>
              </a:spcAft>
              <a:defRPr sz="1300">
                <a:solidFill>
                  <a:srgbClr val="1E1E1E"/>
                </a:solidFill>
              </a:defRPr>
            </a:pPr>
            <a:r>
              <a:t>3. Xây dựng hoàn chỉnh pipeline tái lập không rò rỉ, phân tách dữ liệu minh bạch và tuân thủ nghiêm ngặt chuẩn mực liêm chính khoa học.</a:t>
            </a:r>
          </a:p>
          <a:p>
            <a:pPr>
              <a:spcAft>
                <a:spcPts val="1000"/>
              </a:spcAft>
              <a:defRPr sz="1300">
                <a:solidFill>
                  <a:srgbClr val="1E1E1E"/>
                </a:solidFill>
              </a:defRPr>
            </a:pPr>
            <a:r>
              <a:t>4. Bộ phân loại nhận dạng đã được kiểm chứng hoàn toàn khả thi trên chip vi điều khiển ESP32 với ngân sách Flash ~87 KB và RAM ~64 KB.</a:t>
            </a:r>
          </a:p>
          <a:p>
            <a:pPr>
              <a:spcAft>
                <a:spcPts val="1000"/>
              </a:spcAft>
              <a:defRPr sz="1300">
                <a:solidFill>
                  <a:srgbClr val="1E1E1E"/>
                </a:solidFill>
              </a:defRPr>
            </a:pPr>
            <a:r>
              <a:t>5. Hướng phát triển: Thu thập thêm dữ liệu giọng nói tiếng Việt, lượng tử hóa INT8 trên firmware ESP-IDF thực tế và tích hợp khử nhiễu môi trường.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